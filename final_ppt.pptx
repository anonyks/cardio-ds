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308" r:id="rId4"/>
    <p:sldId id="309" r:id="rId5"/>
    <p:sldId id="330" r:id="rId6"/>
    <p:sldId id="331" r:id="rId7"/>
    <p:sldId id="332" r:id="rId8"/>
    <p:sldId id="333" r:id="rId9"/>
    <p:sldId id="334" r:id="rId10"/>
    <p:sldId id="335" r:id="rId11"/>
    <p:sldId id="336" r:id="rId12"/>
    <p:sldId id="337" r:id="rId13"/>
    <p:sldId id="338" r:id="rId14"/>
    <p:sldId id="339" r:id="rId15"/>
    <p:sldId id="340" r:id="rId16"/>
    <p:sldId id="341" r:id="rId17"/>
    <p:sldId id="342" r:id="rId18"/>
    <p:sldId id="343" r:id="rId19"/>
    <p:sldId id="305" r:id="rId20"/>
    <p:sldId id="329" r:id="rId2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9" roundtripDataSignature="AMtx7mgmRm86lF5ShPComd8tBuctdfFY3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CBE445B-8C63-4D76-8A18-73BCDD31B99A}">
  <a:tblStyle styleId="{BCBE445B-8C63-4D76-8A18-73BCDD31B99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DC049E84-29DE-4115-A86C-49FEBCF6C10E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0F0F0"/>
          </a:solidFill>
        </a:fill>
      </a:tcStyle>
    </a:wholeTbl>
    <a:band1H>
      <a:tcTxStyle b="off" i="off"/>
      <a:tcStyle>
        <a:tcBdr/>
        <a:fill>
          <a:solidFill>
            <a:srgbClr val="E0E0E0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E0E0E0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3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3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94" autoAdjust="0"/>
    <p:restoredTop sz="77820" autoAdjust="0"/>
  </p:normalViewPr>
  <p:slideViewPr>
    <p:cSldViewPr snapToGrid="0">
      <p:cViewPr>
        <p:scale>
          <a:sx n="70" d="100"/>
          <a:sy n="70" d="100"/>
        </p:scale>
        <p:origin x="648" y="-4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59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61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6" name="Google Shape;96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</a:t>
            </a:fld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>
          <a:extLst>
            <a:ext uri="{FF2B5EF4-FFF2-40B4-BE49-F238E27FC236}">
              <a16:creationId xmlns:a16="http://schemas.microsoft.com/office/drawing/2014/main" id="{9E24C709-5A82-717F-E294-189DD1B1C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>
            <a:extLst>
              <a:ext uri="{FF2B5EF4-FFF2-40B4-BE49-F238E27FC236}">
                <a16:creationId xmlns:a16="http://schemas.microsoft.com/office/drawing/2014/main" id="{E357EDC0-7A7C-CBD6-64AA-5640E94FDF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p4:notes">
            <a:extLst>
              <a:ext uri="{FF2B5EF4-FFF2-40B4-BE49-F238E27FC236}">
                <a16:creationId xmlns:a16="http://schemas.microsoft.com/office/drawing/2014/main" id="{0806E17A-4B6E-8B93-2387-1A4DE489A4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Tx/>
              <a:buChar char="-"/>
            </a:pPr>
            <a:r>
              <a:rPr lang="en-US" dirty="0"/>
              <a:t>Binary classification: disease or no disease from 13 clinical features (age, cholesterol, chest pain type, etc.)</a:t>
            </a: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Tx/>
              <a:buChar char="-"/>
            </a:pPr>
            <a:r>
              <a:rPr lang="en-US" dirty="0"/>
              <a:t>Comparing a simple model (LR) vs a neural network on a small clinical dataset</a:t>
            </a: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Tx/>
              <a:buChar char="-"/>
            </a:pPr>
            <a:r>
              <a:rPr lang="en-US" dirty="0"/>
              <a:t>Motivation: CVDs = leading cause of death globally</a:t>
            </a:r>
            <a:endParaRPr dirty="0"/>
          </a:p>
        </p:txBody>
      </p:sp>
      <p:sp>
        <p:nvSpPr>
          <p:cNvPr id="117" name="Google Shape;117;p4:notes">
            <a:extLst>
              <a:ext uri="{FF2B5EF4-FFF2-40B4-BE49-F238E27FC236}">
                <a16:creationId xmlns:a16="http://schemas.microsoft.com/office/drawing/2014/main" id="{C6415CCB-2A50-D9E3-1B7C-622186DB519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978708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>
          <a:extLst>
            <a:ext uri="{FF2B5EF4-FFF2-40B4-BE49-F238E27FC236}">
              <a16:creationId xmlns:a16="http://schemas.microsoft.com/office/drawing/2014/main" id="{501412A7-B8A8-0695-A28E-F81163F9B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>
            <a:extLst>
              <a:ext uri="{FF2B5EF4-FFF2-40B4-BE49-F238E27FC236}">
                <a16:creationId xmlns:a16="http://schemas.microsoft.com/office/drawing/2014/main" id="{862FD7C0-8AE7-BE35-578E-29D23D8759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p4:notes">
            <a:extLst>
              <a:ext uri="{FF2B5EF4-FFF2-40B4-BE49-F238E27FC236}">
                <a16:creationId xmlns:a16="http://schemas.microsoft.com/office/drawing/2014/main" id="{2A9CF8C3-0D32-5111-8C22-2D3422C005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17" name="Google Shape;117;p4:notes">
            <a:extLst>
              <a:ext uri="{FF2B5EF4-FFF2-40B4-BE49-F238E27FC236}">
                <a16:creationId xmlns:a16="http://schemas.microsoft.com/office/drawing/2014/main" id="{8393F621-7D17-1707-C025-7E38C03AC9A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559056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>
          <a:extLst>
            <a:ext uri="{FF2B5EF4-FFF2-40B4-BE49-F238E27FC236}">
              <a16:creationId xmlns:a16="http://schemas.microsoft.com/office/drawing/2014/main" id="{2C8E2733-CD2C-C0D9-8A3B-C07D96071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>
            <a:extLst>
              <a:ext uri="{FF2B5EF4-FFF2-40B4-BE49-F238E27FC236}">
                <a16:creationId xmlns:a16="http://schemas.microsoft.com/office/drawing/2014/main" id="{FA3F2D4E-B173-4356-1807-0333CB707C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p4:notes">
            <a:extLst>
              <a:ext uri="{FF2B5EF4-FFF2-40B4-BE49-F238E27FC236}">
                <a16:creationId xmlns:a16="http://schemas.microsoft.com/office/drawing/2014/main" id="{E28A3387-674F-2E28-33D7-15465BA2BD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17" name="Google Shape;117;p4:notes">
            <a:extLst>
              <a:ext uri="{FF2B5EF4-FFF2-40B4-BE49-F238E27FC236}">
                <a16:creationId xmlns:a16="http://schemas.microsoft.com/office/drawing/2014/main" id="{5D8ABA0A-BB78-CF38-478C-6487585B353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025574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>
          <a:extLst>
            <a:ext uri="{FF2B5EF4-FFF2-40B4-BE49-F238E27FC236}">
              <a16:creationId xmlns:a16="http://schemas.microsoft.com/office/drawing/2014/main" id="{7911E0B0-D925-5ECD-6768-86428F6BD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>
            <a:extLst>
              <a:ext uri="{FF2B5EF4-FFF2-40B4-BE49-F238E27FC236}">
                <a16:creationId xmlns:a16="http://schemas.microsoft.com/office/drawing/2014/main" id="{23CDC4B7-38A6-A322-F01A-D062157DBD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p4:notes">
            <a:extLst>
              <a:ext uri="{FF2B5EF4-FFF2-40B4-BE49-F238E27FC236}">
                <a16:creationId xmlns:a16="http://schemas.microsoft.com/office/drawing/2014/main" id="{820BBCF5-760D-4A2B-937B-00207F857E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Tx/>
              <a:buChar char="-"/>
            </a:pPr>
            <a:r>
              <a:rPr lang="en-US" dirty="0"/>
              <a:t>13 features + binary target (1 = disease, 0 = no disease)</a:t>
            </a: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Tx/>
              <a:buChar char="-"/>
            </a:pPr>
            <a:r>
              <a:rPr lang="en-US" dirty="0"/>
              <a:t>No </a:t>
            </a:r>
            <a:r>
              <a:rPr lang="en-US" dirty="0" err="1"/>
              <a:t>NaN</a:t>
            </a:r>
            <a:r>
              <a:rPr lang="en-US" dirty="0"/>
              <a:t> values, but invalid entries found: </a:t>
            </a:r>
            <a:r>
              <a:rPr lang="en-US" dirty="0" err="1"/>
              <a:t>thal</a:t>
            </a:r>
            <a:r>
              <a:rPr lang="en-US" dirty="0"/>
              <a:t>=0 (2 rows), ca=4 (4 rows)</a:t>
            </a: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Tx/>
              <a:buChar char="-"/>
            </a:pPr>
            <a:r>
              <a:rPr lang="en-US" dirty="0"/>
              <a:t>Root cause: '?' in original UCI files -&gt; Kaggle CSV replaced with 0 and 4 instead of </a:t>
            </a:r>
            <a:r>
              <a:rPr lang="en-US" dirty="0" err="1"/>
              <a:t>NaN</a:t>
            </a:r>
            <a:endParaRPr lang="en-US" dirty="0"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Tx/>
              <a:buChar char="-"/>
            </a:pPr>
            <a:r>
              <a:rPr lang="en-US" dirty="0"/>
              <a:t>Fixed via median imputation </a:t>
            </a: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Tx/>
              <a:buChar char="-"/>
            </a:pPr>
            <a:r>
              <a:rPr lang="en-US" dirty="0"/>
              <a:t>mode not used because it's skewed (ca mode=0 appears 57.9%)</a:t>
            </a: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Tx/>
              <a:buChar char="-"/>
            </a:pPr>
            <a:r>
              <a:rPr lang="en-US" dirty="0"/>
              <a:t>All 302 records preserved, no rows dropped</a:t>
            </a:r>
            <a:endParaRPr dirty="0"/>
          </a:p>
        </p:txBody>
      </p:sp>
      <p:sp>
        <p:nvSpPr>
          <p:cNvPr id="117" name="Google Shape;117;p4:notes">
            <a:extLst>
              <a:ext uri="{FF2B5EF4-FFF2-40B4-BE49-F238E27FC236}">
                <a16:creationId xmlns:a16="http://schemas.microsoft.com/office/drawing/2014/main" id="{7AB5E56F-C1A8-F75C-22E8-8DFF11C7268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6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024729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>
          <a:extLst>
            <a:ext uri="{FF2B5EF4-FFF2-40B4-BE49-F238E27FC236}">
              <a16:creationId xmlns:a16="http://schemas.microsoft.com/office/drawing/2014/main" id="{500979FC-B986-2155-BDA4-7718D14B7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>
            <a:extLst>
              <a:ext uri="{FF2B5EF4-FFF2-40B4-BE49-F238E27FC236}">
                <a16:creationId xmlns:a16="http://schemas.microsoft.com/office/drawing/2014/main" id="{AD7CF25C-41FD-CEC3-E701-54648D86FA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p4:notes">
            <a:extLst>
              <a:ext uri="{FF2B5EF4-FFF2-40B4-BE49-F238E27FC236}">
                <a16:creationId xmlns:a16="http://schemas.microsoft.com/office/drawing/2014/main" id="{FFD977F8-EC5D-22B1-A901-CC7402DFA1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Tx/>
              <a:buChar char="-"/>
            </a:pPr>
            <a:r>
              <a:rPr lang="en-US" dirty="0"/>
              <a:t>Classes roughly balanced: 54% disease, 46% healthy -&gt; no oversampling needed</a:t>
            </a: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Tx/>
              <a:buChar char="-"/>
            </a:pPr>
            <a:endParaRPr lang="en-US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Tx/>
              <a:buChar char="-"/>
              <a:tabLst/>
              <a:defRPr/>
            </a:pPr>
            <a:r>
              <a:rPr lang="en-US" dirty="0"/>
              <a:t>Heatmap: cp (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chest pain type</a:t>
            </a:r>
            <a:r>
              <a:rPr lang="en-US" dirty="0"/>
              <a:t>) and </a:t>
            </a:r>
            <a:r>
              <a:rPr lang="en-US" dirty="0" err="1"/>
              <a:t>thalach</a:t>
            </a:r>
            <a:r>
              <a:rPr lang="en-US" dirty="0"/>
              <a:t> (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max heart rate achieved during exercise </a:t>
            </a:r>
            <a:r>
              <a:rPr lang="en-US" dirty="0"/>
              <a:t>) = strongest positive correlation with disease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Tx/>
              <a:buChar char="-"/>
              <a:tabLst/>
              <a:defRPr/>
            </a:pPr>
            <a:endParaRPr lang="en-US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Tx/>
              <a:buChar char="-"/>
              <a:tabLst/>
              <a:defRPr/>
            </a:pPr>
            <a:r>
              <a:rPr lang="en-US" dirty="0"/>
              <a:t>Ca (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number of major blood vessels colored by fluoroscopy (0 to 3) </a:t>
            </a:r>
            <a:r>
              <a:rPr lang="en-US" dirty="0"/>
              <a:t> and </a:t>
            </a:r>
            <a:r>
              <a:rPr lang="en-US" dirty="0" err="1"/>
              <a:t>exang</a:t>
            </a:r>
            <a:r>
              <a:rPr lang="en-US" dirty="0"/>
              <a:t> (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exercise induced chest pain (1 = yes, 0 = no)</a:t>
            </a:r>
            <a:r>
              <a:rPr lang="en-US" dirty="0"/>
              <a:t> = strongest negative correlation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Tx/>
              <a:buNone/>
              <a:tabLst/>
              <a:defRPr/>
            </a:pPr>
            <a:r>
              <a:rPr lang="en-US" dirty="0"/>
              <a:t>- These features expected to be most important</a:t>
            </a:r>
            <a:endParaRPr dirty="0"/>
          </a:p>
        </p:txBody>
      </p:sp>
      <p:sp>
        <p:nvSpPr>
          <p:cNvPr id="117" name="Google Shape;117;p4:notes">
            <a:extLst>
              <a:ext uri="{FF2B5EF4-FFF2-40B4-BE49-F238E27FC236}">
                <a16:creationId xmlns:a16="http://schemas.microsoft.com/office/drawing/2014/main" id="{F1AB1A80-100A-E03B-433A-2BA52A789F0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7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176630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>
          <a:extLst>
            <a:ext uri="{FF2B5EF4-FFF2-40B4-BE49-F238E27FC236}">
              <a16:creationId xmlns:a16="http://schemas.microsoft.com/office/drawing/2014/main" id="{60460F91-53E7-3BB9-0F76-B74886CCC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>
            <a:extLst>
              <a:ext uri="{FF2B5EF4-FFF2-40B4-BE49-F238E27FC236}">
                <a16:creationId xmlns:a16="http://schemas.microsoft.com/office/drawing/2014/main" id="{AFF36047-4C12-5A3A-D334-D01F568318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p4:notes">
            <a:extLst>
              <a:ext uri="{FF2B5EF4-FFF2-40B4-BE49-F238E27FC236}">
                <a16:creationId xmlns:a16="http://schemas.microsoft.com/office/drawing/2014/main" id="{6BD5487A-0BF0-26F6-DD6D-E199B47494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just">
              <a:lnSpc>
                <a:spcPct val="110000"/>
              </a:lnSpc>
              <a:spcBef>
                <a:spcPts val="0"/>
              </a:spcBef>
              <a:buSzPts val="2800"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Arial"/>
                <a:cs typeface="Arial"/>
                <a:sym typeface="Arial"/>
              </a:rPr>
              <a:t>Fit = learn parameters (e.g., mean, std) from training data; transform = apply those parameters to scale the data</a:t>
            </a:r>
          </a:p>
        </p:txBody>
      </p:sp>
      <p:sp>
        <p:nvSpPr>
          <p:cNvPr id="117" name="Google Shape;117;p4:notes">
            <a:extLst>
              <a:ext uri="{FF2B5EF4-FFF2-40B4-BE49-F238E27FC236}">
                <a16:creationId xmlns:a16="http://schemas.microsoft.com/office/drawing/2014/main" id="{6F94E1CD-B757-AD8D-177A-E8FFF7696CA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8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184121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>
          <a:extLst>
            <a:ext uri="{FF2B5EF4-FFF2-40B4-BE49-F238E27FC236}">
              <a16:creationId xmlns:a16="http://schemas.microsoft.com/office/drawing/2014/main" id="{FD7A2502-02D2-74B7-F35C-A01C2133C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>
            <a:extLst>
              <a:ext uri="{FF2B5EF4-FFF2-40B4-BE49-F238E27FC236}">
                <a16:creationId xmlns:a16="http://schemas.microsoft.com/office/drawing/2014/main" id="{F1E73E79-2F9D-61AE-3489-E27460F48D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p4:notes">
            <a:extLst>
              <a:ext uri="{FF2B5EF4-FFF2-40B4-BE49-F238E27FC236}">
                <a16:creationId xmlns:a16="http://schemas.microsoft.com/office/drawing/2014/main" id="{2D71D117-E74E-FE5D-5BA5-CD272F9B1F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just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Tx/>
              <a:buChar char="-"/>
              <a:tabLst/>
              <a:defRPr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Classification model : uses sigmoid to output probability (0–1).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Tx/>
              <a:buChar char="-"/>
              <a:tabLst/>
              <a:defRPr/>
            </a:pPr>
            <a:endParaRPr lang="en-US"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just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Tx/>
              <a:buChar char="-"/>
              <a:tabLst/>
              <a:defRPr/>
            </a:pP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Liblinear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: 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best weights for the logistic regression equation by minimizing the loss function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Tx/>
              <a:buChar char="-"/>
              <a:tabLst/>
              <a:defRPr/>
            </a:pPr>
            <a:endParaRPr lang="en-US"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buFontTx/>
              <a:buChar char="-"/>
            </a:pP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l1 = can zero out useless features, it adds |WEIGHT| to loss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eg.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zeroed our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age,chol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etc.</a:t>
            </a:r>
          </a:p>
          <a:p>
            <a:pPr>
              <a:buFontTx/>
              <a:buChar char="-"/>
            </a:pPr>
            <a:endParaRPr lang="en-US" sz="1200" b="0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pPr>
              <a:buFontTx/>
              <a:buChar char="-"/>
            </a:pP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l2 = shrinks all features a bit, adds |WEIGHT|^2 to loss,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srinks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all to 0 but never fully removes</a:t>
            </a:r>
          </a:p>
          <a:p>
            <a:pPr>
              <a:buFontTx/>
              <a:buChar char="-"/>
            </a:pPr>
            <a:endParaRPr lang="en-US" sz="1200" b="0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pPr>
              <a:buFontTx/>
              <a:buChar char="-"/>
            </a:pP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5-fold CV : </a:t>
            </a:r>
            <a:r>
              <a:rPr lang="en-US" b="1" dirty="0"/>
              <a:t>cv = 5:</a:t>
            </a:r>
            <a:r>
              <a:rPr lang="en-US" dirty="0"/>
              <a:t> training data is split into 5 parts; the model trains on 4 and tests on 1, repeating for all folds.</a:t>
            </a:r>
            <a:endParaRPr lang="en-US" sz="1200" b="0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just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Tx/>
              <a:buChar char="-"/>
              <a:tabLst/>
              <a:defRPr/>
            </a:pPr>
            <a:endParaRPr lang="en-US"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228600" algn="just">
              <a:lnSpc>
                <a:spcPct val="110000"/>
              </a:lnSpc>
              <a:spcBef>
                <a:spcPts val="0"/>
              </a:spcBef>
              <a:buSzPts val="2800"/>
            </a:pPr>
            <a:endParaRPr lang="en-US" sz="1200" b="0" i="0" u="none" strike="noStrike" cap="none" dirty="0">
              <a:solidFill>
                <a:schemeClr val="dk1"/>
              </a:solidFill>
              <a:latin typeface="Calibri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4:notes">
            <a:extLst>
              <a:ext uri="{FF2B5EF4-FFF2-40B4-BE49-F238E27FC236}">
                <a16:creationId xmlns:a16="http://schemas.microsoft.com/office/drawing/2014/main" id="{C704BFB1-1909-E0F6-FAE3-A53EB2EBCAE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9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428432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>
          <a:extLst>
            <a:ext uri="{FF2B5EF4-FFF2-40B4-BE49-F238E27FC236}">
              <a16:creationId xmlns:a16="http://schemas.microsoft.com/office/drawing/2014/main" id="{05C96490-0BD7-7F19-F47E-3BFF7F511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>
            <a:extLst>
              <a:ext uri="{FF2B5EF4-FFF2-40B4-BE49-F238E27FC236}">
                <a16:creationId xmlns:a16="http://schemas.microsoft.com/office/drawing/2014/main" id="{18CB1587-73C9-D1A0-5B2E-0359518597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p4:notes">
            <a:extLst>
              <a:ext uri="{FF2B5EF4-FFF2-40B4-BE49-F238E27FC236}">
                <a16:creationId xmlns:a16="http://schemas.microsoft.com/office/drawing/2014/main" id="{4ED24A66-D0E9-B8D3-A805-04FC97E6AC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just">
              <a:lnSpc>
                <a:spcPct val="110000"/>
              </a:lnSpc>
              <a:spcBef>
                <a:spcPts val="0"/>
              </a:spcBef>
              <a:buSzPts val="2800"/>
              <a:buFontTx/>
              <a:buChar char="-"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Arial"/>
                <a:cs typeface="Arial"/>
                <a:sym typeface="Arial"/>
              </a:rPr>
              <a:t>Only ~8 of 13 features actually matter</a:t>
            </a:r>
          </a:p>
          <a:p>
            <a:pPr marL="228600" lvl="0" indent="-228600" algn="just">
              <a:lnSpc>
                <a:spcPct val="110000"/>
              </a:lnSpc>
              <a:spcBef>
                <a:spcPts val="0"/>
              </a:spcBef>
              <a:buSzPts val="2800"/>
              <a:buFontTx/>
              <a:buChar char="-"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Arial"/>
                <a:cs typeface="Arial"/>
                <a:sym typeface="Arial"/>
              </a:rPr>
              <a:t>Bar chart: positive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Arial"/>
                <a:cs typeface="Arial"/>
                <a:sym typeface="Arial"/>
              </a:rPr>
              <a:t>coeff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Arial"/>
                <a:cs typeface="Arial"/>
                <a:sym typeface="Arial"/>
              </a:rPr>
              <a:t>. -&gt; pushes toward disease, negative -&gt; away</a:t>
            </a:r>
          </a:p>
          <a:p>
            <a:pPr marL="228600" lvl="0" indent="-228600" algn="just">
              <a:lnSpc>
                <a:spcPct val="110000"/>
              </a:lnSpc>
              <a:spcBef>
                <a:spcPts val="0"/>
              </a:spcBef>
              <a:buSzPts val="2800"/>
              <a:buFontTx/>
              <a:buChar char="-"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Arial"/>
                <a:cs typeface="Arial"/>
                <a:sym typeface="Arial"/>
              </a:rPr>
              <a:t>Top predictor: chest pain type (+0.60); strongest negative: ca (−0.44)</a:t>
            </a:r>
          </a:p>
        </p:txBody>
      </p:sp>
      <p:sp>
        <p:nvSpPr>
          <p:cNvPr id="117" name="Google Shape;117;p4:notes">
            <a:extLst>
              <a:ext uri="{FF2B5EF4-FFF2-40B4-BE49-F238E27FC236}">
                <a16:creationId xmlns:a16="http://schemas.microsoft.com/office/drawing/2014/main" id="{20C71A3D-C07A-680B-434A-4F498404579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10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486156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>
          <a:extLst>
            <a:ext uri="{FF2B5EF4-FFF2-40B4-BE49-F238E27FC236}">
              <a16:creationId xmlns:a16="http://schemas.microsoft.com/office/drawing/2014/main" id="{0B5FB151-BB6C-B724-111B-05CBBF939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>
            <a:extLst>
              <a:ext uri="{FF2B5EF4-FFF2-40B4-BE49-F238E27FC236}">
                <a16:creationId xmlns:a16="http://schemas.microsoft.com/office/drawing/2014/main" id="{A323F54C-77DB-B7EA-0F6E-556CAC13DD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p4:notes">
            <a:extLst>
              <a:ext uri="{FF2B5EF4-FFF2-40B4-BE49-F238E27FC236}">
                <a16:creationId xmlns:a16="http://schemas.microsoft.com/office/drawing/2014/main" id="{7952E772-B2EF-A9C6-D703-3B5B688E5F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just">
              <a:lnSpc>
                <a:spcPct val="110000"/>
              </a:lnSpc>
              <a:spcBef>
                <a:spcPts val="0"/>
              </a:spcBef>
              <a:buSzPts val="2800"/>
              <a:buFontTx/>
              <a:buChar char="-"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Arial"/>
                <a:cs typeface="Arial"/>
                <a:sym typeface="Arial"/>
              </a:rPr>
              <a:t>- 3 layers: 64 neurons -&gt; 32 -&gt; 1 output</a:t>
            </a:r>
          </a:p>
          <a:p>
            <a:pPr marL="228600" lvl="0" indent="-228600" algn="just">
              <a:lnSpc>
                <a:spcPct val="110000"/>
              </a:lnSpc>
              <a:spcBef>
                <a:spcPts val="0"/>
              </a:spcBef>
              <a:buSzPts val="2800"/>
              <a:buFontTx/>
              <a:buChar char="-"/>
            </a:pP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Arial"/>
                <a:cs typeface="Arial"/>
                <a:sym typeface="Arial"/>
              </a:rPr>
              <a:t>ReLU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Arial"/>
                <a:cs typeface="Arial"/>
                <a:sym typeface="Arial"/>
              </a:rPr>
              <a:t> zeros out negatives in hidden layers; sigmoid at output -&gt; probability</a:t>
            </a:r>
          </a:p>
          <a:p>
            <a:pPr marL="228600" lvl="0" indent="-228600" algn="just">
              <a:lnSpc>
                <a:spcPct val="110000"/>
              </a:lnSpc>
              <a:spcBef>
                <a:spcPts val="0"/>
              </a:spcBef>
              <a:buSzPts val="2800"/>
              <a:buFontTx/>
              <a:buChar char="-"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Arial"/>
                <a:cs typeface="Arial"/>
                <a:sym typeface="Arial"/>
              </a:rPr>
              <a:t>Dropout: randomly disables 30% of neurons each pass -&gt; prevents memorization-</a:t>
            </a:r>
          </a:p>
        </p:txBody>
      </p:sp>
      <p:sp>
        <p:nvSpPr>
          <p:cNvPr id="117" name="Google Shape;117;p4:notes">
            <a:extLst>
              <a:ext uri="{FF2B5EF4-FFF2-40B4-BE49-F238E27FC236}">
                <a16:creationId xmlns:a16="http://schemas.microsoft.com/office/drawing/2014/main" id="{D553EA2A-B5F4-BDBE-DB3D-69BED788C00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11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272279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>
          <a:extLst>
            <a:ext uri="{FF2B5EF4-FFF2-40B4-BE49-F238E27FC236}">
              <a16:creationId xmlns:a16="http://schemas.microsoft.com/office/drawing/2014/main" id="{061A30F5-1741-B8FE-A645-C68F00335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>
            <a:extLst>
              <a:ext uri="{FF2B5EF4-FFF2-40B4-BE49-F238E27FC236}">
                <a16:creationId xmlns:a16="http://schemas.microsoft.com/office/drawing/2014/main" id="{52BE3AC4-CABC-8B40-F6D8-5C81265292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p4:notes">
            <a:extLst>
              <a:ext uri="{FF2B5EF4-FFF2-40B4-BE49-F238E27FC236}">
                <a16:creationId xmlns:a16="http://schemas.microsoft.com/office/drawing/2014/main" id="{159B0BDB-ADC9-99D6-FB89-E683FE8F16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just">
              <a:lnSpc>
                <a:spcPct val="110000"/>
              </a:lnSpc>
              <a:spcBef>
                <a:spcPts val="0"/>
              </a:spcBef>
              <a:buSzPts val="2800"/>
              <a:buFontTx/>
              <a:buChar char="-"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Arial"/>
                <a:cs typeface="Arial"/>
                <a:sym typeface="Arial"/>
              </a:rPr>
              <a:t>- 3 layers: 64 neurons -&gt; 32 -&gt; 1 output</a:t>
            </a:r>
          </a:p>
          <a:p>
            <a:pPr marL="228600" lvl="0" indent="-228600" algn="just">
              <a:lnSpc>
                <a:spcPct val="110000"/>
              </a:lnSpc>
              <a:spcBef>
                <a:spcPts val="0"/>
              </a:spcBef>
              <a:buSzPts val="2800"/>
              <a:buFontTx/>
              <a:buChar char="-"/>
            </a:pP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Arial"/>
                <a:cs typeface="Arial"/>
                <a:sym typeface="Arial"/>
              </a:rPr>
              <a:t>ReLU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Arial"/>
                <a:cs typeface="Arial"/>
                <a:sym typeface="Arial"/>
              </a:rPr>
              <a:t> zeros out negatives in hidden layers; sigmoid at output -&gt; probability</a:t>
            </a:r>
          </a:p>
          <a:p>
            <a:pPr marL="228600" lvl="0" indent="-228600" algn="just">
              <a:lnSpc>
                <a:spcPct val="110000"/>
              </a:lnSpc>
              <a:spcBef>
                <a:spcPts val="0"/>
              </a:spcBef>
              <a:buSzPts val="2800"/>
              <a:buFontTx/>
              <a:buChar char="-"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Arial"/>
                <a:cs typeface="Arial"/>
                <a:sym typeface="Arial"/>
              </a:rPr>
              <a:t>Dropout: randomly disables 30% of neurons each pass -&gt; prevents memorization-</a:t>
            </a:r>
          </a:p>
        </p:txBody>
      </p:sp>
      <p:sp>
        <p:nvSpPr>
          <p:cNvPr id="117" name="Google Shape;117;p4:notes">
            <a:extLst>
              <a:ext uri="{FF2B5EF4-FFF2-40B4-BE49-F238E27FC236}">
                <a16:creationId xmlns:a16="http://schemas.microsoft.com/office/drawing/2014/main" id="{F0298728-DBCC-18C5-B614-8839C443A98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12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976607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>
          <a:extLst>
            <a:ext uri="{FF2B5EF4-FFF2-40B4-BE49-F238E27FC236}">
              <a16:creationId xmlns:a16="http://schemas.microsoft.com/office/drawing/2014/main" id="{7BFF542C-2CE9-3B70-8D42-41B0DF89A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>
            <a:extLst>
              <a:ext uri="{FF2B5EF4-FFF2-40B4-BE49-F238E27FC236}">
                <a16:creationId xmlns:a16="http://schemas.microsoft.com/office/drawing/2014/main" id="{65ED72CD-87C8-979B-6479-B9145269E2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p4:notes">
            <a:extLst>
              <a:ext uri="{FF2B5EF4-FFF2-40B4-BE49-F238E27FC236}">
                <a16:creationId xmlns:a16="http://schemas.microsoft.com/office/drawing/2014/main" id="{77626EA9-E747-63F9-D0F5-2205389508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just">
              <a:lnSpc>
                <a:spcPct val="110000"/>
              </a:lnSpc>
              <a:spcBef>
                <a:spcPts val="0"/>
              </a:spcBef>
              <a:buSzPts val="2800"/>
              <a:buFontTx/>
              <a:buChar char="-"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Arial"/>
                <a:cs typeface="Arial"/>
                <a:sym typeface="Arial"/>
              </a:rPr>
              <a:t>- 3 layers: 64 neurons -&gt; 32 -&gt; 1 output</a:t>
            </a:r>
          </a:p>
          <a:p>
            <a:pPr marL="228600" lvl="0" indent="-228600" algn="just">
              <a:lnSpc>
                <a:spcPct val="110000"/>
              </a:lnSpc>
              <a:spcBef>
                <a:spcPts val="0"/>
              </a:spcBef>
              <a:buSzPts val="2800"/>
              <a:buFontTx/>
              <a:buChar char="-"/>
            </a:pP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Arial"/>
                <a:cs typeface="Arial"/>
                <a:sym typeface="Arial"/>
              </a:rPr>
              <a:t>ReLU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Arial"/>
                <a:cs typeface="Arial"/>
                <a:sym typeface="Arial"/>
              </a:rPr>
              <a:t> zeros out negatives in hidden layers; sigmoid at output -&gt; probability</a:t>
            </a:r>
          </a:p>
          <a:p>
            <a:pPr marL="228600" lvl="0" indent="-228600" algn="just">
              <a:lnSpc>
                <a:spcPct val="110000"/>
              </a:lnSpc>
              <a:spcBef>
                <a:spcPts val="0"/>
              </a:spcBef>
              <a:buSzPts val="2800"/>
              <a:buFontTx/>
              <a:buChar char="-"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Arial"/>
                <a:cs typeface="Arial"/>
                <a:sym typeface="Arial"/>
              </a:rPr>
              <a:t>Dropout: randomly disables 30% of neurons each pass -&gt; prevents memorization-</a:t>
            </a:r>
          </a:p>
        </p:txBody>
      </p:sp>
      <p:sp>
        <p:nvSpPr>
          <p:cNvPr id="117" name="Google Shape;117;p4:notes">
            <a:extLst>
              <a:ext uri="{FF2B5EF4-FFF2-40B4-BE49-F238E27FC236}">
                <a16:creationId xmlns:a16="http://schemas.microsoft.com/office/drawing/2014/main" id="{ABEFC589-883F-CCA6-1E75-AED5893EC5C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13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310516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>
          <a:extLst>
            <a:ext uri="{FF2B5EF4-FFF2-40B4-BE49-F238E27FC236}">
              <a16:creationId xmlns:a16="http://schemas.microsoft.com/office/drawing/2014/main" id="{8DD62508-EABB-C5CE-4E1C-53E8E6FE2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>
            <a:extLst>
              <a:ext uri="{FF2B5EF4-FFF2-40B4-BE49-F238E27FC236}">
                <a16:creationId xmlns:a16="http://schemas.microsoft.com/office/drawing/2014/main" id="{C01CE7C5-DD4C-E1E8-21DD-6F6EBBBAEC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p4:notes">
            <a:extLst>
              <a:ext uri="{FF2B5EF4-FFF2-40B4-BE49-F238E27FC236}">
                <a16:creationId xmlns:a16="http://schemas.microsoft.com/office/drawing/2014/main" id="{F67C0B3C-9F19-AAAE-94BC-C83DF511EB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just">
              <a:lnSpc>
                <a:spcPct val="110000"/>
              </a:lnSpc>
              <a:spcBef>
                <a:spcPts val="0"/>
              </a:spcBef>
              <a:buSzPts val="2800"/>
              <a:buFontTx/>
              <a:buChar char="-"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Arial"/>
                <a:cs typeface="Arial"/>
                <a:sym typeface="Arial"/>
              </a:rPr>
              <a:t>- 3 layers: 64 neurons -&gt; 32 -&gt; 1 output</a:t>
            </a:r>
          </a:p>
          <a:p>
            <a:pPr marL="228600" lvl="0" indent="-228600" algn="just">
              <a:lnSpc>
                <a:spcPct val="110000"/>
              </a:lnSpc>
              <a:spcBef>
                <a:spcPts val="0"/>
              </a:spcBef>
              <a:buSzPts val="2800"/>
              <a:buFontTx/>
              <a:buChar char="-"/>
            </a:pP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Arial"/>
                <a:cs typeface="Arial"/>
                <a:sym typeface="Arial"/>
              </a:rPr>
              <a:t>ReLU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Arial"/>
                <a:cs typeface="Arial"/>
                <a:sym typeface="Arial"/>
              </a:rPr>
              <a:t> zeros out negatives in hidden layers; sigmoid at output -&gt; probability</a:t>
            </a:r>
          </a:p>
          <a:p>
            <a:pPr marL="228600" lvl="0" indent="-228600" algn="just">
              <a:lnSpc>
                <a:spcPct val="110000"/>
              </a:lnSpc>
              <a:spcBef>
                <a:spcPts val="0"/>
              </a:spcBef>
              <a:buSzPts val="2800"/>
              <a:buFontTx/>
              <a:buChar char="-"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Arial"/>
                <a:cs typeface="Arial"/>
                <a:sym typeface="Arial"/>
              </a:rPr>
              <a:t>Dropout: randomly disables 30% of neurons each pass -&gt; prevents memorization-</a:t>
            </a:r>
          </a:p>
        </p:txBody>
      </p:sp>
      <p:sp>
        <p:nvSpPr>
          <p:cNvPr id="117" name="Google Shape;117;p4:notes">
            <a:extLst>
              <a:ext uri="{FF2B5EF4-FFF2-40B4-BE49-F238E27FC236}">
                <a16:creationId xmlns:a16="http://schemas.microsoft.com/office/drawing/2014/main" id="{55813412-8381-CAE0-87A5-90A014F4B4A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14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495135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>
          <a:extLst>
            <a:ext uri="{FF2B5EF4-FFF2-40B4-BE49-F238E27FC236}">
              <a16:creationId xmlns:a16="http://schemas.microsoft.com/office/drawing/2014/main" id="{83CBE609-9ED8-9E00-D06A-E0E387E52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>
            <a:extLst>
              <a:ext uri="{FF2B5EF4-FFF2-40B4-BE49-F238E27FC236}">
                <a16:creationId xmlns:a16="http://schemas.microsoft.com/office/drawing/2014/main" id="{F50DBD7B-0FD3-3AD1-9261-C2B3AF6A92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p4:notes">
            <a:extLst>
              <a:ext uri="{FF2B5EF4-FFF2-40B4-BE49-F238E27FC236}">
                <a16:creationId xmlns:a16="http://schemas.microsoft.com/office/drawing/2014/main" id="{BD22CE1E-E813-481B-4E54-6CA57ABF3B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just">
              <a:lnSpc>
                <a:spcPct val="110000"/>
              </a:lnSpc>
              <a:spcBef>
                <a:spcPts val="0"/>
              </a:spcBef>
              <a:buSzPts val="2800"/>
              <a:buFontTx/>
              <a:buChar char="-"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Arial"/>
                <a:cs typeface="Arial"/>
                <a:sym typeface="Arial"/>
              </a:rPr>
              <a:t>- 3 layers: 64 neurons -&gt; 32 -&gt; 1 output</a:t>
            </a:r>
          </a:p>
          <a:p>
            <a:pPr marL="228600" lvl="0" indent="-228600" algn="just">
              <a:lnSpc>
                <a:spcPct val="110000"/>
              </a:lnSpc>
              <a:spcBef>
                <a:spcPts val="0"/>
              </a:spcBef>
              <a:buSzPts val="2800"/>
              <a:buFontTx/>
              <a:buChar char="-"/>
            </a:pP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Arial"/>
                <a:cs typeface="Arial"/>
                <a:sym typeface="Arial"/>
              </a:rPr>
              <a:t>ReLU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Arial"/>
                <a:cs typeface="Arial"/>
                <a:sym typeface="Arial"/>
              </a:rPr>
              <a:t> zeros out negatives in hidden layers; sigmoid at output -&gt; probability</a:t>
            </a:r>
          </a:p>
          <a:p>
            <a:pPr marL="228600" lvl="0" indent="-228600" algn="just">
              <a:lnSpc>
                <a:spcPct val="110000"/>
              </a:lnSpc>
              <a:spcBef>
                <a:spcPts val="0"/>
              </a:spcBef>
              <a:buSzPts val="2800"/>
              <a:buFontTx/>
              <a:buChar char="-"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Arial"/>
                <a:cs typeface="Arial"/>
                <a:sym typeface="Arial"/>
              </a:rPr>
              <a:t>Dropout: randomly disables 30% of neurons each pass -&gt; prevents memorization-</a:t>
            </a:r>
          </a:p>
        </p:txBody>
      </p:sp>
      <p:sp>
        <p:nvSpPr>
          <p:cNvPr id="117" name="Google Shape;117;p4:notes">
            <a:extLst>
              <a:ext uri="{FF2B5EF4-FFF2-40B4-BE49-F238E27FC236}">
                <a16:creationId xmlns:a16="http://schemas.microsoft.com/office/drawing/2014/main" id="{A243CF20-4451-829E-6DC5-9C4E3D77DE1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15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043116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>
          <a:extLst>
            <a:ext uri="{FF2B5EF4-FFF2-40B4-BE49-F238E27FC236}">
              <a16:creationId xmlns:a16="http://schemas.microsoft.com/office/drawing/2014/main" id="{58ACD198-ABCF-E02C-1D13-763563965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>
            <a:extLst>
              <a:ext uri="{FF2B5EF4-FFF2-40B4-BE49-F238E27FC236}">
                <a16:creationId xmlns:a16="http://schemas.microsoft.com/office/drawing/2014/main" id="{8F8E7202-84E6-6649-F018-4BA3824890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p4:notes">
            <a:extLst>
              <a:ext uri="{FF2B5EF4-FFF2-40B4-BE49-F238E27FC236}">
                <a16:creationId xmlns:a16="http://schemas.microsoft.com/office/drawing/2014/main" id="{12DD0059-D18D-98AD-2916-902CCE85D4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just">
              <a:lnSpc>
                <a:spcPct val="110000"/>
              </a:lnSpc>
              <a:spcBef>
                <a:spcPts val="0"/>
              </a:spcBef>
              <a:buSzPts val="2800"/>
              <a:buFontTx/>
              <a:buChar char="-"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Arial"/>
                <a:cs typeface="Arial"/>
                <a:sym typeface="Arial"/>
              </a:rPr>
              <a:t>- 3 layers: 64 neurons -&gt; 32 -&gt; 1 output</a:t>
            </a:r>
          </a:p>
          <a:p>
            <a:pPr marL="228600" lvl="0" indent="-228600" algn="just">
              <a:lnSpc>
                <a:spcPct val="110000"/>
              </a:lnSpc>
              <a:spcBef>
                <a:spcPts val="0"/>
              </a:spcBef>
              <a:buSzPts val="2800"/>
              <a:buFontTx/>
              <a:buChar char="-"/>
            </a:pP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Arial"/>
                <a:cs typeface="Arial"/>
                <a:sym typeface="Arial"/>
              </a:rPr>
              <a:t>ReLU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Arial"/>
                <a:cs typeface="Arial"/>
                <a:sym typeface="Arial"/>
              </a:rPr>
              <a:t> zeros out negatives in hidden layers; sigmoid at output -&gt; probability</a:t>
            </a:r>
          </a:p>
          <a:p>
            <a:pPr marL="228600" lvl="0" indent="-228600" algn="just">
              <a:lnSpc>
                <a:spcPct val="110000"/>
              </a:lnSpc>
              <a:spcBef>
                <a:spcPts val="0"/>
              </a:spcBef>
              <a:buSzPts val="2800"/>
              <a:buFontTx/>
              <a:buChar char="-"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Arial"/>
                <a:cs typeface="Arial"/>
                <a:sym typeface="Arial"/>
              </a:rPr>
              <a:t>Dropout: randomly disables 30% of neurons each pass -&gt; prevents memorization-</a:t>
            </a:r>
          </a:p>
        </p:txBody>
      </p:sp>
      <p:sp>
        <p:nvSpPr>
          <p:cNvPr id="117" name="Google Shape;117;p4:notes">
            <a:extLst>
              <a:ext uri="{FF2B5EF4-FFF2-40B4-BE49-F238E27FC236}">
                <a16:creationId xmlns:a16="http://schemas.microsoft.com/office/drawing/2014/main" id="{795B4FC2-9478-4EC0-1BBE-7A944935FA2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16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5619848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>
          <a:extLst>
            <a:ext uri="{FF2B5EF4-FFF2-40B4-BE49-F238E27FC236}">
              <a16:creationId xmlns:a16="http://schemas.microsoft.com/office/drawing/2014/main" id="{84CB1A34-76F3-93CD-48F6-D5458C823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>
            <a:extLst>
              <a:ext uri="{FF2B5EF4-FFF2-40B4-BE49-F238E27FC236}">
                <a16:creationId xmlns:a16="http://schemas.microsoft.com/office/drawing/2014/main" id="{80999F2A-5054-C87C-7834-32B29B50DD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p4:notes">
            <a:extLst>
              <a:ext uri="{FF2B5EF4-FFF2-40B4-BE49-F238E27FC236}">
                <a16:creationId xmlns:a16="http://schemas.microsoft.com/office/drawing/2014/main" id="{C416023A-77C9-B599-F140-A518AF8BAC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just">
              <a:lnSpc>
                <a:spcPct val="110000"/>
              </a:lnSpc>
              <a:spcBef>
                <a:spcPts val="0"/>
              </a:spcBef>
              <a:buSzPts val="2800"/>
              <a:buFontTx/>
              <a:buChar char="-"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Arial"/>
                <a:cs typeface="Arial"/>
                <a:sym typeface="Arial"/>
              </a:rPr>
              <a:t>- 3 layers: 64 neurons -&gt; 32 -&gt; 1 output</a:t>
            </a:r>
          </a:p>
          <a:p>
            <a:pPr marL="228600" lvl="0" indent="-228600" algn="just">
              <a:lnSpc>
                <a:spcPct val="110000"/>
              </a:lnSpc>
              <a:spcBef>
                <a:spcPts val="0"/>
              </a:spcBef>
              <a:buSzPts val="2800"/>
              <a:buFontTx/>
              <a:buChar char="-"/>
            </a:pP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Arial"/>
                <a:cs typeface="Arial"/>
                <a:sym typeface="Arial"/>
              </a:rPr>
              <a:t>ReLU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Arial"/>
                <a:cs typeface="Arial"/>
                <a:sym typeface="Arial"/>
              </a:rPr>
              <a:t> zeros out negatives in hidden layers; sigmoid at output -&gt; probability</a:t>
            </a:r>
          </a:p>
          <a:p>
            <a:pPr marL="228600" lvl="0" indent="-228600" algn="just">
              <a:lnSpc>
                <a:spcPct val="110000"/>
              </a:lnSpc>
              <a:spcBef>
                <a:spcPts val="0"/>
              </a:spcBef>
              <a:buSzPts val="2800"/>
              <a:buFontTx/>
              <a:buChar char="-"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Arial"/>
                <a:cs typeface="Arial"/>
                <a:sym typeface="Arial"/>
              </a:rPr>
              <a:t>Dropout: randomly disables 30% of neurons each pass -&gt; prevents memorization-</a:t>
            </a:r>
          </a:p>
        </p:txBody>
      </p:sp>
      <p:sp>
        <p:nvSpPr>
          <p:cNvPr id="117" name="Google Shape;117;p4:notes">
            <a:extLst>
              <a:ext uri="{FF2B5EF4-FFF2-40B4-BE49-F238E27FC236}">
                <a16:creationId xmlns:a16="http://schemas.microsoft.com/office/drawing/2014/main" id="{8CE46F7C-C1D0-BF9A-A2D8-1672E7344F2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17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9151551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>
          <a:extLst>
            <a:ext uri="{FF2B5EF4-FFF2-40B4-BE49-F238E27FC236}">
              <a16:creationId xmlns:a16="http://schemas.microsoft.com/office/drawing/2014/main" id="{6413D603-AB52-78BF-BF76-07DC44465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>
            <a:extLst>
              <a:ext uri="{FF2B5EF4-FFF2-40B4-BE49-F238E27FC236}">
                <a16:creationId xmlns:a16="http://schemas.microsoft.com/office/drawing/2014/main" id="{1592A350-C124-F2FA-D87C-E58B2059A3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p4:notes">
            <a:extLst>
              <a:ext uri="{FF2B5EF4-FFF2-40B4-BE49-F238E27FC236}">
                <a16:creationId xmlns:a16="http://schemas.microsoft.com/office/drawing/2014/main" id="{F8E8ED5A-71AC-53B3-4879-C1C13A926C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just">
              <a:lnSpc>
                <a:spcPct val="110000"/>
              </a:lnSpc>
              <a:spcBef>
                <a:spcPts val="0"/>
              </a:spcBef>
              <a:buSzPts val="2800"/>
              <a:buFontTx/>
              <a:buChar char="-"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Arial"/>
                <a:cs typeface="Arial"/>
                <a:sym typeface="Arial"/>
              </a:rPr>
              <a:t>- 3 layers: 64 neurons -&gt; 32 -&gt; 1 output</a:t>
            </a:r>
          </a:p>
          <a:p>
            <a:pPr marL="228600" lvl="0" indent="-228600" algn="just">
              <a:lnSpc>
                <a:spcPct val="110000"/>
              </a:lnSpc>
              <a:spcBef>
                <a:spcPts val="0"/>
              </a:spcBef>
              <a:buSzPts val="2800"/>
              <a:buFontTx/>
              <a:buChar char="-"/>
            </a:pP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Arial"/>
                <a:cs typeface="Arial"/>
                <a:sym typeface="Arial"/>
              </a:rPr>
              <a:t>ReLU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Arial"/>
                <a:cs typeface="Arial"/>
                <a:sym typeface="Arial"/>
              </a:rPr>
              <a:t> zeros out negatives in hidden layers; sigmoid at output -&gt; probability</a:t>
            </a:r>
          </a:p>
          <a:p>
            <a:pPr marL="228600" lvl="0" indent="-228600" algn="just">
              <a:lnSpc>
                <a:spcPct val="110000"/>
              </a:lnSpc>
              <a:spcBef>
                <a:spcPts val="0"/>
              </a:spcBef>
              <a:buSzPts val="2800"/>
              <a:buFontTx/>
              <a:buChar char="-"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Arial"/>
                <a:cs typeface="Arial"/>
                <a:sym typeface="Arial"/>
              </a:rPr>
              <a:t>Dropout: randomly disables 30% of neurons each pass -&gt; prevents memorization-</a:t>
            </a:r>
          </a:p>
        </p:txBody>
      </p:sp>
      <p:sp>
        <p:nvSpPr>
          <p:cNvPr id="117" name="Google Shape;117;p4:notes">
            <a:extLst>
              <a:ext uri="{FF2B5EF4-FFF2-40B4-BE49-F238E27FC236}">
                <a16:creationId xmlns:a16="http://schemas.microsoft.com/office/drawing/2014/main" id="{84BEB98B-3A93-FFC4-5007-4644CC7FAFF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18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4915293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514" name="Google Shape;514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2">
          <a:extLst>
            <a:ext uri="{FF2B5EF4-FFF2-40B4-BE49-F238E27FC236}">
              <a16:creationId xmlns:a16="http://schemas.microsoft.com/office/drawing/2014/main" id="{E7863879-B113-0765-B3D2-F6E19B446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50:notes">
            <a:extLst>
              <a:ext uri="{FF2B5EF4-FFF2-40B4-BE49-F238E27FC236}">
                <a16:creationId xmlns:a16="http://schemas.microsoft.com/office/drawing/2014/main" id="{5A6B5A5E-CC3E-D324-4508-D0AC9FE24D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514" name="Google Shape;514;p50:notes">
            <a:extLst>
              <a:ext uri="{FF2B5EF4-FFF2-40B4-BE49-F238E27FC236}">
                <a16:creationId xmlns:a16="http://schemas.microsoft.com/office/drawing/2014/main" id="{2BA75570-73DC-0292-78EE-0AEB27F092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007599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5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5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4C01C4DB-76DB-4200-AD36-B1C0397A2837}" type="datetime1">
              <a:rPr lang="en-US" smtClean="0"/>
              <a:t>3/14/2026</a:t>
            </a:fld>
            <a:endParaRPr dirty="0"/>
          </a:p>
        </p:txBody>
      </p:sp>
      <p:sp>
        <p:nvSpPr>
          <p:cNvPr id="19" name="Google Shape;19;p5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0" name="Google Shape;20;p5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5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5491F899-6F84-4D2E-99A3-A85E60E5161D}" type="datetime1">
              <a:rPr lang="en-US" smtClean="0"/>
              <a:t>3/14/2026</a:t>
            </a:fld>
            <a:endParaRPr dirty="0"/>
          </a:p>
        </p:txBody>
      </p:sp>
      <p:sp>
        <p:nvSpPr>
          <p:cNvPr id="25" name="Google Shape;25;p5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6" name="Google Shape;26;p5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1422EAB2-7A5C-4F77-BA17-A403B053C4E8}" type="datetime1">
              <a:rPr lang="en-US" smtClean="0"/>
              <a:t>3/14/2026</a:t>
            </a:fld>
            <a:endParaRPr dirty="0"/>
          </a:p>
        </p:txBody>
      </p:sp>
      <p:sp>
        <p:nvSpPr>
          <p:cNvPr id="31" name="Google Shape;31;p5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2" name="Google Shape;32;p5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5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5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EB4C9B18-9240-4C5C-AAAF-E6B7FD66AE4F}" type="datetime1">
              <a:rPr lang="en-US" smtClean="0"/>
              <a:t>3/14/2026</a:t>
            </a:fld>
            <a:endParaRPr dirty="0"/>
          </a:p>
        </p:txBody>
      </p:sp>
      <p:sp>
        <p:nvSpPr>
          <p:cNvPr id="38" name="Google Shape;38;p5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9" name="Google Shape;39;p5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5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5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5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5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5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469298DE-554A-44D9-8B7B-E25F31E1600F}" type="datetime1">
              <a:rPr lang="en-US" smtClean="0"/>
              <a:t>3/14/2026</a:t>
            </a:fld>
            <a:endParaRPr dirty="0"/>
          </a:p>
        </p:txBody>
      </p:sp>
      <p:sp>
        <p:nvSpPr>
          <p:cNvPr id="47" name="Google Shape;47;p5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8" name="Google Shape;48;p5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5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7B22DE1E-01B1-421D-AE0B-7C80A1D5EB23}" type="datetime1">
              <a:rPr lang="en-US" smtClean="0"/>
              <a:t>3/14/2026</a:t>
            </a:fld>
            <a:endParaRPr dirty="0"/>
          </a:p>
        </p:txBody>
      </p:sp>
      <p:sp>
        <p:nvSpPr>
          <p:cNvPr id="52" name="Google Shape;52;p5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3" name="Google Shape;53;p5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09D816F5-E4F3-49AD-869B-44D11AA86350}" type="datetime1">
              <a:rPr lang="en-US" smtClean="0"/>
              <a:t>3/14/2026</a:t>
            </a:fld>
            <a:endParaRPr dirty="0"/>
          </a:p>
        </p:txBody>
      </p:sp>
      <p:sp>
        <p:nvSpPr>
          <p:cNvPr id="56" name="Google Shape;56;p5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7" name="Google Shape;57;p5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6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6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6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4C7CF816-2A4B-450E-9E08-07CAB1C7484B}" type="datetime1">
              <a:rPr lang="en-US" smtClean="0"/>
              <a:t>3/14/2026</a:t>
            </a:fld>
            <a:endParaRPr dirty="0"/>
          </a:p>
        </p:txBody>
      </p:sp>
      <p:sp>
        <p:nvSpPr>
          <p:cNvPr id="63" name="Google Shape;63;p6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4" name="Google Shape;64;p6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6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6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6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6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458A5F81-1D32-430B-B670-FA884AF5C813}" type="datetime1">
              <a:rPr lang="en-US" smtClean="0"/>
              <a:t>3/14/2026</a:t>
            </a:fld>
            <a:endParaRPr dirty="0"/>
          </a:p>
        </p:txBody>
      </p:sp>
      <p:sp>
        <p:nvSpPr>
          <p:cNvPr id="70" name="Google Shape;70;p6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1" name="Google Shape;71;p6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6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6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6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C034A79F-2144-415D-8EC9-6EF25DF2B997}" type="datetime1">
              <a:rPr lang="en-US" smtClean="0"/>
              <a:t>3/14/2026</a:t>
            </a:fld>
            <a:endParaRPr dirty="0"/>
          </a:p>
        </p:txBody>
      </p:sp>
      <p:sp>
        <p:nvSpPr>
          <p:cNvPr id="76" name="Google Shape;76;p6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7" name="Google Shape;77;p6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6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6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889D1F67-2ADE-45DD-9D41-55899592AADE}" type="datetime1">
              <a:rPr lang="en-US" smtClean="0"/>
              <a:t>3/14/2026</a:t>
            </a:fld>
            <a:endParaRPr dirty="0"/>
          </a:p>
        </p:txBody>
      </p:sp>
      <p:sp>
        <p:nvSpPr>
          <p:cNvPr id="82" name="Google Shape;82;p6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83" name="Google Shape;83;p6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5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8F15D562-8E98-49CA-B4CB-AB4C4B006D0B}" type="datetime1">
              <a:rPr lang="en-US" smtClean="0"/>
              <a:t>3/14/2026</a:t>
            </a:fld>
            <a:endParaRPr dirty="0"/>
          </a:p>
        </p:txBody>
      </p:sp>
      <p:sp>
        <p:nvSpPr>
          <p:cNvPr id="13" name="Google Shape;13;p5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4" name="Google Shape;14;p5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ctrTitle"/>
          </p:nvPr>
        </p:nvSpPr>
        <p:spPr>
          <a:xfrm>
            <a:off x="356382" y="546050"/>
            <a:ext cx="11479236" cy="1398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lvl="0">
              <a:buSzPts val="4400"/>
            </a:pPr>
            <a:r>
              <a:rPr lang="en-US" sz="4400" b="1" dirty="0">
                <a:latin typeface="+mj-lt"/>
                <a:ea typeface="Arial"/>
                <a:cs typeface="Arial"/>
                <a:sym typeface="Arial"/>
              </a:rPr>
              <a:t>Heart Disease Prediction: </a:t>
            </a:r>
            <a:br>
              <a:rPr lang="en-US" sz="4400" b="1" dirty="0">
                <a:latin typeface="+mj-lt"/>
                <a:ea typeface="Arial"/>
                <a:cs typeface="Arial"/>
                <a:sym typeface="Arial"/>
              </a:rPr>
            </a:br>
            <a:r>
              <a:rPr lang="en-US" sz="4400" b="1" dirty="0">
                <a:latin typeface="+mj-lt"/>
                <a:ea typeface="Arial"/>
                <a:cs typeface="Arial"/>
                <a:sym typeface="Arial"/>
              </a:rPr>
              <a:t>Using LR &amp; ANN</a:t>
            </a:r>
            <a:endParaRPr dirty="0">
              <a:latin typeface="+mj-lt"/>
            </a:endParaRPr>
          </a:p>
        </p:txBody>
      </p:sp>
      <p:sp>
        <p:nvSpPr>
          <p:cNvPr id="89" name="Google Shape;89;p1"/>
          <p:cNvSpPr txBox="1">
            <a:spLocks noGrp="1"/>
          </p:cNvSpPr>
          <p:nvPr>
            <p:ph type="subTitle" idx="1"/>
          </p:nvPr>
        </p:nvSpPr>
        <p:spPr>
          <a:xfrm>
            <a:off x="356381" y="2129890"/>
            <a:ext cx="11479236" cy="367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>
                <a:latin typeface="+mj-lt"/>
                <a:ea typeface="Arial"/>
                <a:cs typeface="Arial"/>
                <a:sym typeface="Arial"/>
              </a:rPr>
              <a:t>Team Members</a:t>
            </a:r>
            <a:endParaRPr dirty="0">
              <a:latin typeface="+mj-lt"/>
            </a:endParaRPr>
          </a:p>
        </p:txBody>
      </p:sp>
      <p:graphicFrame>
        <p:nvGraphicFramePr>
          <p:cNvPr id="90" name="Google Shape;90;p1"/>
          <p:cNvGraphicFramePr/>
          <p:nvPr>
            <p:extLst>
              <p:ext uri="{D42A27DB-BD31-4B8C-83A1-F6EECF244321}">
                <p14:modId xmlns:p14="http://schemas.microsoft.com/office/powerpoint/2010/main" val="1606261039"/>
              </p:ext>
            </p:extLst>
          </p:nvPr>
        </p:nvGraphicFramePr>
        <p:xfrm>
          <a:off x="3780886" y="2496921"/>
          <a:ext cx="4814474" cy="1493560"/>
        </p:xfrm>
        <a:graphic>
          <a:graphicData uri="http://schemas.openxmlformats.org/drawingml/2006/table">
            <a:tbl>
              <a:tblPr firstRow="1" bandRow="1">
                <a:noFill/>
                <a:tableStyleId>{BCBE445B-8C63-4D76-8A18-73BCDD31B99A}</a:tableStyleId>
              </a:tblPr>
              <a:tblGrid>
                <a:gridCol w="26974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70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91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endParaRPr sz="1400" u="none" strike="noStrike" cap="none" dirty="0">
                        <a:latin typeface="+mj-lt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endParaRPr sz="1400" u="none" strike="noStrike" cap="none" dirty="0">
                        <a:latin typeface="+mj-lt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91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latin typeface="+mj-lt"/>
                          <a:cs typeface="Arial"/>
                          <a:sym typeface="Arial"/>
                        </a:rPr>
                        <a:t>Karun Lamsal</a:t>
                      </a:r>
                      <a:endParaRPr lang="en-US" sz="1400" u="none" strike="noStrike" cap="none" dirty="0">
                        <a:latin typeface="+mj-lt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latin typeface="+mj-lt"/>
                          <a:ea typeface="Arial"/>
                          <a:cs typeface="Arial"/>
                          <a:sym typeface="Arial"/>
                        </a:rPr>
                        <a:t>THA081BCT013</a:t>
                      </a:r>
                      <a:endParaRPr sz="1400" u="none" strike="noStrike" cap="none" dirty="0">
                        <a:latin typeface="+mj-lt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91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latin typeface="+mj-lt"/>
                          <a:ea typeface="Arial"/>
                          <a:cs typeface="Arial"/>
                          <a:sym typeface="Arial"/>
                        </a:rPr>
                        <a:t>Kishan Kumar Shah</a:t>
                      </a:r>
                      <a:endParaRPr sz="1400" u="none" strike="noStrike" cap="none" dirty="0">
                        <a:latin typeface="+mj-lt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latin typeface="+mj-lt"/>
                          <a:ea typeface="Arial"/>
                          <a:cs typeface="Arial"/>
                          <a:sym typeface="Arial"/>
                        </a:rPr>
                        <a:t>THA081BCT014</a:t>
                      </a:r>
                      <a:endParaRPr sz="1400" u="none" strike="noStrike" cap="none" dirty="0">
                        <a:latin typeface="+mj-lt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91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endParaRPr lang="en-US" sz="2000" u="none" strike="noStrike" cap="none" dirty="0">
                        <a:latin typeface="+mj-lt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endParaRPr sz="1400" u="none" strike="noStrike" cap="none" dirty="0">
                        <a:latin typeface="+mj-lt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1" name="Google Shape;91;p1"/>
          <p:cNvSpPr txBox="1"/>
          <p:nvPr/>
        </p:nvSpPr>
        <p:spPr>
          <a:xfrm>
            <a:off x="356381" y="4307100"/>
            <a:ext cx="11479236" cy="839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rPr>
              <a:t>Under the Supervision of:</a:t>
            </a:r>
            <a:endParaRPr sz="1400" b="0" i="0" u="none" strike="noStrike" cap="none" dirty="0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rPr>
              <a:t>Asst. </a:t>
            </a:r>
            <a:r>
              <a:rPr lang="en-US" sz="2000" dirty="0">
                <a:solidFill>
                  <a:schemeClr val="dk1"/>
                </a:solidFill>
                <a:latin typeface="+mj-lt"/>
              </a:rPr>
              <a:t>Prof. 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rPr>
              <a:t>Prajwal Pakka</a:t>
            </a:r>
            <a:endParaRPr sz="1400" b="0" i="0" u="none" strike="noStrike" cap="none" dirty="0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356381" y="5456445"/>
            <a:ext cx="11479236" cy="1234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rPr>
              <a:t>Department of Electronics and Computer Engineering</a:t>
            </a:r>
            <a:endParaRPr sz="1400" b="0" i="0" u="none" strike="noStrike" cap="none" dirty="0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rPr>
              <a:t>Institute of Engineering, Thapathali Campus</a:t>
            </a:r>
            <a:endParaRPr sz="1400" b="0" i="0" u="none" strike="noStrike" cap="none" dirty="0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rPr>
              <a:t>March 17, 2025</a:t>
            </a:r>
            <a:endParaRPr sz="1400" b="0" i="0" u="none" strike="noStrike" cap="none" dirty="0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 sz="4000" b="1" dirty="0">
                <a:latin typeface="+mj-lt"/>
                <a:ea typeface="Arial"/>
                <a:cs typeface="Arial"/>
                <a:sym typeface="Arial"/>
              </a:rPr>
              <a:t>Presentation Outline</a:t>
            </a:r>
            <a:endParaRPr dirty="0">
              <a:latin typeface="+mj-lt"/>
            </a:endParaRPr>
          </a:p>
        </p:txBody>
      </p:sp>
      <p:sp>
        <p:nvSpPr>
          <p:cNvPr id="99" name="Google Shape;99;p2"/>
          <p:cNvSpPr txBox="1">
            <a:spLocks noGrp="1"/>
          </p:cNvSpPr>
          <p:nvPr>
            <p:ph type="body" idx="1"/>
          </p:nvPr>
        </p:nvSpPr>
        <p:spPr>
          <a:xfrm>
            <a:off x="1196047" y="2076914"/>
            <a:ext cx="4760741" cy="270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2286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>
                <a:latin typeface="+mj-lt"/>
                <a:ea typeface="Arial"/>
                <a:cs typeface="Arial"/>
                <a:sym typeface="Arial"/>
              </a:rPr>
              <a:t>Introduction</a:t>
            </a:r>
            <a:endParaRPr dirty="0">
              <a:latin typeface="+mj-lt"/>
            </a:endParaRPr>
          </a:p>
          <a:p>
            <a:pPr marL="228600" lvl="0" indent="-22860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>
                <a:latin typeface="+mj-lt"/>
                <a:ea typeface="Arial"/>
                <a:cs typeface="Arial"/>
                <a:sym typeface="Arial"/>
              </a:rPr>
              <a:t>Math Formulation </a:t>
            </a:r>
            <a:endParaRPr dirty="0">
              <a:latin typeface="+mj-lt"/>
            </a:endParaRPr>
          </a:p>
          <a:p>
            <a:pPr marL="228600" lvl="0" indent="-228600">
              <a:lnSpc>
                <a:spcPct val="150000"/>
              </a:lnSpc>
              <a:spcBef>
                <a:spcPts val="600"/>
              </a:spcBef>
              <a:buSzPts val="2800"/>
            </a:pPr>
            <a:r>
              <a:rPr lang="en-US" dirty="0">
                <a:latin typeface="+mj-lt"/>
                <a:ea typeface="Arial"/>
                <a:cs typeface="Arial"/>
                <a:sym typeface="Arial"/>
              </a:rPr>
              <a:t>Dataset &amp; Cleaning</a:t>
            </a:r>
          </a:p>
          <a:p>
            <a:pPr marL="228600" lvl="0" indent="-228600">
              <a:lnSpc>
                <a:spcPct val="150000"/>
              </a:lnSpc>
              <a:spcBef>
                <a:spcPts val="600"/>
              </a:spcBef>
              <a:buSzPts val="2800"/>
            </a:pPr>
            <a:r>
              <a:rPr lang="en-US" dirty="0">
                <a:latin typeface="+mj-lt"/>
                <a:ea typeface="Arial"/>
                <a:cs typeface="Arial"/>
                <a:sym typeface="Arial"/>
              </a:rPr>
              <a:t>EDA</a:t>
            </a:r>
            <a:endParaRPr dirty="0">
              <a:latin typeface="+mj-lt"/>
            </a:endParaRPr>
          </a:p>
        </p:txBody>
      </p:sp>
      <p:sp>
        <p:nvSpPr>
          <p:cNvPr id="100" name="Google Shape;100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6664BFC8-6535-4FC8-9EC8-142C3D2078C3}" type="datetime1">
              <a:rPr lang="en-US" smtClean="0">
                <a:latin typeface="+mj-lt"/>
              </a:rPr>
              <a:t>3/14/2026</a:t>
            </a:fld>
            <a:endParaRPr dirty="0">
              <a:latin typeface="+mj-lt"/>
            </a:endParaRPr>
          </a:p>
        </p:txBody>
      </p:sp>
      <p:sp>
        <p:nvSpPr>
          <p:cNvPr id="101" name="Google Shape;101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latin typeface="+mj-lt"/>
              </a:rPr>
              <a:t>2</a:t>
            </a:fld>
            <a:endParaRPr dirty="0">
              <a:latin typeface="+mj-lt"/>
            </a:endParaRPr>
          </a:p>
        </p:txBody>
      </p:sp>
      <p:sp>
        <p:nvSpPr>
          <p:cNvPr id="102" name="Google Shape;102;p2"/>
          <p:cNvSpPr txBox="1"/>
          <p:nvPr/>
        </p:nvSpPr>
        <p:spPr>
          <a:xfrm>
            <a:off x="6314635" y="2076914"/>
            <a:ext cx="4591929" cy="270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228600" lvl="0" indent="-228600">
              <a:lnSpc>
                <a:spcPct val="150000"/>
              </a:lnSpc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dirty="0">
                <a:solidFill>
                  <a:schemeClr val="dk1"/>
                </a:solidFill>
                <a:latin typeface="+mj-lt"/>
              </a:rPr>
              <a:t>Feature Engineering</a:t>
            </a:r>
            <a:endParaRPr dirty="0">
              <a:latin typeface="+mj-lt"/>
            </a:endParaRPr>
          </a:p>
          <a:p>
            <a:pPr marL="228600" lvl="0" indent="-228600"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dirty="0">
                <a:solidFill>
                  <a:schemeClr val="dk1"/>
                </a:solidFill>
                <a:latin typeface="+mj-lt"/>
              </a:rPr>
              <a:t>Model Development</a:t>
            </a:r>
          </a:p>
          <a:p>
            <a:pPr marL="228600" lvl="0" indent="-228600"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dirty="0">
                <a:latin typeface="+mj-lt"/>
              </a:rPr>
              <a:t>Evaluation</a:t>
            </a:r>
          </a:p>
          <a:p>
            <a:pPr marL="228600" lvl="0" indent="-228600"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dirty="0">
                <a:latin typeface="+mj-lt"/>
              </a:rPr>
              <a:t>Results &amp; Conclusion</a:t>
            </a:r>
            <a:endParaRPr sz="2800" b="0" i="0" u="none" strike="noStrike" cap="none" dirty="0">
              <a:solidFill>
                <a:schemeClr val="dk1"/>
              </a:solidFill>
              <a:latin typeface="+mj-lt"/>
              <a:ea typeface="Arial"/>
              <a:cs typeface="Arial"/>
              <a:sym typeface="Arial"/>
            </a:endParaRPr>
          </a:p>
          <a:p>
            <a:pPr marR="0" lvl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</a:pPr>
            <a:endParaRPr sz="1400" b="0" i="0" u="none" strike="noStrike" cap="none" dirty="0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EDA091AA-EFF9-C425-A1A5-63AB9EEA3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">
            <a:extLst>
              <a:ext uri="{FF2B5EF4-FFF2-40B4-BE49-F238E27FC236}">
                <a16:creationId xmlns:a16="http://schemas.microsoft.com/office/drawing/2014/main" id="{45B0B6CE-675A-8902-5141-B3A7F0A915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2286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 sz="4000" b="1" dirty="0">
                <a:latin typeface="+mj-lt"/>
                <a:ea typeface="Arial"/>
                <a:cs typeface="Arial"/>
                <a:sym typeface="Arial"/>
              </a:rPr>
              <a:t>Introduction</a:t>
            </a:r>
            <a:endParaRPr dirty="0">
              <a:latin typeface="+mj-lt"/>
            </a:endParaRPr>
          </a:p>
        </p:txBody>
      </p:sp>
      <p:sp>
        <p:nvSpPr>
          <p:cNvPr id="120" name="Google Shape;120;p4">
            <a:extLst>
              <a:ext uri="{FF2B5EF4-FFF2-40B4-BE49-F238E27FC236}">
                <a16:creationId xmlns:a16="http://schemas.microsoft.com/office/drawing/2014/main" id="{FB75BCA0-3D72-8252-8317-20CCAD2D4F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1600200"/>
            <a:ext cx="100584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just">
              <a:spcBef>
                <a:spcPts val="0"/>
              </a:spcBef>
              <a:buSzPts val="2800"/>
            </a:pPr>
            <a:r>
              <a:rPr lang="en-US" sz="2600" b="1" dirty="0">
                <a:latin typeface="+mj-lt"/>
                <a:cs typeface="Arial"/>
                <a:sym typeface="Arial"/>
              </a:rPr>
              <a:t>Goal</a:t>
            </a:r>
            <a:r>
              <a:rPr lang="en-US" sz="2600" dirty="0">
                <a:latin typeface="+mj-lt"/>
                <a:cs typeface="Arial"/>
                <a:sym typeface="Arial"/>
              </a:rPr>
              <a:t>: Predict heart disease (yes/no) from 13 clinical features</a:t>
            </a:r>
          </a:p>
          <a:p>
            <a:pPr marL="228600" lvl="0" indent="-228600" algn="just">
              <a:spcBef>
                <a:spcPts val="0"/>
              </a:spcBef>
              <a:buSzPts val="2800"/>
            </a:pPr>
            <a:endParaRPr lang="en-US" sz="2600" dirty="0">
              <a:latin typeface="+mj-lt"/>
              <a:cs typeface="Arial"/>
              <a:sym typeface="Arial"/>
            </a:endParaRPr>
          </a:p>
          <a:p>
            <a:pPr marL="228600" lvl="0" indent="-228600" algn="just">
              <a:spcBef>
                <a:spcPts val="0"/>
              </a:spcBef>
              <a:buSzPts val="2800"/>
            </a:pPr>
            <a:r>
              <a:rPr lang="en-US" sz="2600" b="1" dirty="0">
                <a:latin typeface="+mj-lt"/>
                <a:cs typeface="Arial"/>
                <a:sym typeface="Arial"/>
              </a:rPr>
              <a:t>Dataset</a:t>
            </a:r>
            <a:r>
              <a:rPr lang="en-US" sz="2600" dirty="0">
                <a:latin typeface="+mj-lt"/>
                <a:cs typeface="Arial"/>
                <a:sym typeface="Arial"/>
              </a:rPr>
              <a:t>: UCI Heart Disease - 302 records</a:t>
            </a:r>
          </a:p>
          <a:p>
            <a:pPr marL="228600" lvl="0" indent="-228600" algn="just">
              <a:spcBef>
                <a:spcPts val="0"/>
              </a:spcBef>
              <a:buSzPts val="2800"/>
            </a:pPr>
            <a:endParaRPr lang="en-US" sz="2600" dirty="0">
              <a:latin typeface="+mj-lt"/>
              <a:cs typeface="Arial"/>
              <a:sym typeface="Arial"/>
            </a:endParaRPr>
          </a:p>
          <a:p>
            <a:pPr marL="228600" lvl="0" indent="-228600" algn="just">
              <a:spcBef>
                <a:spcPts val="0"/>
              </a:spcBef>
              <a:buSzPts val="2800"/>
            </a:pPr>
            <a:r>
              <a:rPr lang="en-US" sz="2600" b="1" dirty="0">
                <a:latin typeface="+mj-lt"/>
                <a:cs typeface="Arial"/>
                <a:sym typeface="Arial"/>
              </a:rPr>
              <a:t>Models</a:t>
            </a:r>
            <a:r>
              <a:rPr lang="en-US" sz="2600" dirty="0">
                <a:latin typeface="+mj-lt"/>
                <a:cs typeface="Arial"/>
                <a:sym typeface="Arial"/>
              </a:rPr>
              <a:t>: Logistic Regression vs ANN</a:t>
            </a:r>
          </a:p>
          <a:p>
            <a:pPr marL="228600" lvl="0" indent="-228600" algn="just">
              <a:spcBef>
                <a:spcPts val="0"/>
              </a:spcBef>
              <a:buSzPts val="2800"/>
            </a:pPr>
            <a:endParaRPr lang="en-US" sz="2600" dirty="0">
              <a:latin typeface="+mj-lt"/>
              <a:cs typeface="Arial"/>
              <a:sym typeface="Arial"/>
            </a:endParaRPr>
          </a:p>
          <a:p>
            <a:pPr marL="228600" lvl="0" indent="-228600" algn="just">
              <a:spcBef>
                <a:spcPts val="0"/>
              </a:spcBef>
              <a:buSzPts val="2800"/>
            </a:pPr>
            <a:r>
              <a:rPr lang="en-US" sz="2600" b="1" dirty="0">
                <a:latin typeface="+mj-lt"/>
                <a:cs typeface="Arial"/>
                <a:sym typeface="Arial"/>
              </a:rPr>
              <a:t>Why</a:t>
            </a:r>
            <a:r>
              <a:rPr lang="en-US" sz="2600" dirty="0">
                <a:latin typeface="+mj-lt"/>
                <a:cs typeface="Arial"/>
                <a:sym typeface="Arial"/>
              </a:rPr>
              <a:t>?</a:t>
            </a:r>
          </a:p>
          <a:p>
            <a:pPr marL="0" lvl="0" indent="0" algn="just">
              <a:spcBef>
                <a:spcPts val="0"/>
              </a:spcBef>
              <a:buSzPts val="2800"/>
              <a:buNone/>
            </a:pPr>
            <a:r>
              <a:rPr lang="en-US" sz="2600" dirty="0">
                <a:latin typeface="+mj-lt"/>
                <a:cs typeface="Arial"/>
                <a:sym typeface="Arial"/>
              </a:rPr>
              <a:t>	CVDs kill 17.9M people/year (WHO)</a:t>
            </a:r>
          </a:p>
          <a:p>
            <a:pPr marL="0" lvl="0" indent="0" algn="just">
              <a:spcBef>
                <a:spcPts val="0"/>
              </a:spcBef>
              <a:buSzPts val="2800"/>
              <a:buNone/>
            </a:pPr>
            <a:r>
              <a:rPr lang="en-US" sz="2600" dirty="0">
                <a:latin typeface="+mj-lt"/>
                <a:cs typeface="Arial"/>
                <a:sym typeface="Arial"/>
              </a:rPr>
              <a:t>	- early detection saves lives</a:t>
            </a:r>
            <a:endParaRPr sz="2600" dirty="0"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4">
            <a:extLst>
              <a:ext uri="{FF2B5EF4-FFF2-40B4-BE49-F238E27FC236}">
                <a16:creationId xmlns:a16="http://schemas.microsoft.com/office/drawing/2014/main" id="{B6825B59-A4D4-0209-A343-A1FFFAA605D7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D785D048-971E-423F-B8B7-FDBAC031D7CE}" type="datetime1">
              <a:rPr lang="en-US" smtClean="0">
                <a:latin typeface="+mj-lt"/>
              </a:rPr>
              <a:t>3/14/2026</a:t>
            </a:fld>
            <a:endParaRPr dirty="0">
              <a:latin typeface="+mj-lt"/>
            </a:endParaRPr>
          </a:p>
        </p:txBody>
      </p:sp>
      <p:sp>
        <p:nvSpPr>
          <p:cNvPr id="122" name="Google Shape;122;p4">
            <a:extLst>
              <a:ext uri="{FF2B5EF4-FFF2-40B4-BE49-F238E27FC236}">
                <a16:creationId xmlns:a16="http://schemas.microsoft.com/office/drawing/2014/main" id="{41363936-B312-E00D-6AB0-53E0FF5CADF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latin typeface="+mj-lt"/>
              </a:rPr>
              <a:t>3</a:t>
            </a:fld>
            <a:endParaRPr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885837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4B4F755F-5266-8F30-3A5A-AE4734D3C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">
            <a:extLst>
              <a:ext uri="{FF2B5EF4-FFF2-40B4-BE49-F238E27FC236}">
                <a16:creationId xmlns:a16="http://schemas.microsoft.com/office/drawing/2014/main" id="{2F85F189-DD6B-418F-D6D0-F34BFFCABAF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2286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buSzPts val="4000"/>
            </a:pPr>
            <a:r>
              <a:rPr lang="en-US" sz="4000" b="1" dirty="0">
                <a:latin typeface="+mj-lt"/>
                <a:ea typeface="Arial"/>
                <a:cs typeface="Arial"/>
                <a:sym typeface="Arial"/>
              </a:rPr>
              <a:t>Mathematical Formulation[1]</a:t>
            </a:r>
            <a:endParaRPr dirty="0">
              <a:latin typeface="+mj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0" name="Google Shape;120;p4">
                <a:extLst>
                  <a:ext uri="{FF2B5EF4-FFF2-40B4-BE49-F238E27FC236}">
                    <a16:creationId xmlns:a16="http://schemas.microsoft.com/office/drawing/2014/main" id="{FA471A8B-D073-AB67-5A3E-C1F9C0CEB92F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914400" y="1600200"/>
                <a:ext cx="10058400" cy="457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 fontScale="92500" lnSpcReduction="10000"/>
              </a:bodyPr>
              <a:lstStyle/>
              <a:p>
                <a:pPr marL="228600" lvl="0" indent="-228600" algn="just">
                  <a:lnSpc>
                    <a:spcPct val="150000"/>
                  </a:lnSpc>
                  <a:spcBef>
                    <a:spcPts val="0"/>
                  </a:spcBef>
                  <a:buSzPts val="2800"/>
                </a:pPr>
                <a:r>
                  <a:rPr lang="en-US" sz="2600" b="1" dirty="0">
                    <a:latin typeface="+mj-lt"/>
                    <a:ea typeface="Arial"/>
                    <a:cs typeface="Arial"/>
                    <a:sym typeface="Arial"/>
                  </a:rPr>
                  <a:t>Logistic Regression</a:t>
                </a:r>
              </a:p>
              <a:p>
                <a:pPr marL="0" lvl="0" indent="0" algn="just">
                  <a:lnSpc>
                    <a:spcPct val="100000"/>
                  </a:lnSpc>
                  <a:spcBef>
                    <a:spcPts val="0"/>
                  </a:spcBef>
                  <a:buSzPts val="280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600" i="1"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𝑧</m:t>
                      </m:r>
                      <m:r>
                        <a:rPr lang="pl-PL" sz="2600" i="1"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 = </m:t>
                      </m:r>
                      <m:sSub>
                        <m:sSubPr>
                          <m:ctrlPr>
                            <a:rPr lang="pl-PL" sz="2600" i="1">
                              <a:latin typeface="Cambria Math" panose="02040503050406030204" pitchFamily="18" charset="0"/>
                              <a:ea typeface="Arial"/>
                              <a:cs typeface="Arial"/>
                              <a:sym typeface="Arial"/>
                            </a:rPr>
                          </m:ctrlPr>
                        </m:sSubPr>
                        <m:e>
                          <m:r>
                            <a:rPr lang="pl-PL" sz="2600" i="1">
                              <a:latin typeface="Cambria Math" panose="02040503050406030204" pitchFamily="18" charset="0"/>
                              <a:ea typeface="Arial"/>
                              <a:cs typeface="Arial"/>
                              <a:sym typeface="Arial"/>
                            </a:rPr>
                            <m:t>𝑤</m:t>
                          </m:r>
                        </m:e>
                        <m:sub>
                          <m:r>
                            <a:rPr lang="pl-PL" sz="2600" i="1">
                              <a:latin typeface="Cambria Math" panose="02040503050406030204" pitchFamily="18" charset="0"/>
                              <a:ea typeface="Arial"/>
                              <a:cs typeface="Arial"/>
                              <a:sym typeface="Arial"/>
                            </a:rPr>
                            <m:t>1</m:t>
                          </m:r>
                          <m:sSub>
                            <m:sSubPr>
                              <m:ctrlPr>
                                <a:rPr lang="pl-PL" sz="2600" i="1"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  <a:sym typeface="Arial"/>
                                </a:rPr>
                              </m:ctrlPr>
                            </m:sSubPr>
                            <m:e>
                              <m:r>
                                <a:rPr lang="pl-PL" sz="2600" i="1"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  <a:sym typeface="Arial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l-PL" sz="2600" i="1"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  <a:sym typeface="Arial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r>
                        <a:rPr lang="pl-PL" sz="2600" i="1"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+ </m:t>
                      </m:r>
                      <m:sSub>
                        <m:sSubPr>
                          <m:ctrlPr>
                            <a:rPr lang="pl-PL" sz="2600" i="1">
                              <a:latin typeface="Cambria Math" panose="02040503050406030204" pitchFamily="18" charset="0"/>
                              <a:ea typeface="Arial"/>
                              <a:cs typeface="Arial"/>
                              <a:sym typeface="Arial"/>
                            </a:rPr>
                          </m:ctrlPr>
                        </m:sSubPr>
                        <m:e>
                          <m:r>
                            <a:rPr lang="pl-PL" sz="2600" i="1">
                              <a:latin typeface="Cambria Math" panose="02040503050406030204" pitchFamily="18" charset="0"/>
                              <a:ea typeface="Arial"/>
                              <a:cs typeface="Arial"/>
                              <a:sym typeface="Arial"/>
                            </a:rPr>
                            <m:t>𝑤</m:t>
                          </m:r>
                        </m:e>
                        <m:sub>
                          <m:r>
                            <a:rPr lang="pl-PL" sz="2600" i="1">
                              <a:latin typeface="Cambria Math" panose="02040503050406030204" pitchFamily="18" charset="0"/>
                              <a:ea typeface="Arial"/>
                              <a:cs typeface="Arial"/>
                              <a:sym typeface="Arial"/>
                            </a:rPr>
                            <m:t>2</m:t>
                          </m:r>
                          <m:sSub>
                            <m:sSubPr>
                              <m:ctrlPr>
                                <a:rPr lang="pl-PL" sz="2600" i="1"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  <a:sym typeface="Arial"/>
                                </a:rPr>
                              </m:ctrlPr>
                            </m:sSubPr>
                            <m:e>
                              <m:r>
                                <a:rPr lang="pl-PL" sz="2600" i="1"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  <a:sym typeface="Arial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l-PL" sz="2600" i="1"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  <a:sym typeface="Arial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pl-PL" sz="2600" i="1"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+ </m:t>
                      </m:r>
                      <m:r>
                        <a:rPr lang="en-US" sz="2600" b="0" i="1" smtClean="0"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… </m:t>
                      </m:r>
                      <m:r>
                        <a:rPr lang="pl-PL" sz="2600" i="1"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+ </m:t>
                      </m:r>
                      <m:sSub>
                        <m:sSubPr>
                          <m:ctrlPr>
                            <a:rPr lang="pl-PL" sz="2600" i="1">
                              <a:latin typeface="Cambria Math" panose="02040503050406030204" pitchFamily="18" charset="0"/>
                              <a:ea typeface="Arial"/>
                              <a:cs typeface="Arial"/>
                              <a:sym typeface="Arial"/>
                            </a:rPr>
                          </m:ctrlPr>
                        </m:sSubPr>
                        <m:e>
                          <m:r>
                            <a:rPr lang="pl-PL" sz="2600" i="1">
                              <a:latin typeface="Cambria Math" panose="02040503050406030204" pitchFamily="18" charset="0"/>
                              <a:ea typeface="Arial"/>
                              <a:cs typeface="Arial"/>
                              <a:sym typeface="Arial"/>
                            </a:rPr>
                            <m:t>𝑤</m:t>
                          </m:r>
                        </m:e>
                        <m:sub>
                          <m:r>
                            <a:rPr lang="pl-PL" sz="2600" i="1">
                              <a:latin typeface="Cambria Math" panose="02040503050406030204" pitchFamily="18" charset="0"/>
                              <a:ea typeface="Arial"/>
                              <a:cs typeface="Arial"/>
                              <a:sym typeface="Arial"/>
                            </a:rPr>
                            <m:t>𝑛</m:t>
                          </m:r>
                          <m:sSub>
                            <m:sSubPr>
                              <m:ctrlPr>
                                <a:rPr lang="pl-PL" sz="2600" i="1"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  <a:sym typeface="Arial"/>
                                </a:rPr>
                              </m:ctrlPr>
                            </m:sSubPr>
                            <m:e>
                              <m:r>
                                <a:rPr lang="pl-PL" sz="2600" i="1"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  <a:sym typeface="Arial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l-PL" sz="2600" i="1"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  <a:sym typeface="Arial"/>
                                </a:rPr>
                                <m:t>𝑛</m:t>
                              </m:r>
                            </m:sub>
                          </m:sSub>
                        </m:sub>
                      </m:sSub>
                      <m:r>
                        <a:rPr lang="pl-PL" sz="2600" i="1"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+ </m:t>
                      </m:r>
                      <m:r>
                        <a:rPr lang="pl-PL" sz="2600" i="1"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𝑏</m:t>
                      </m:r>
                    </m:oMath>
                  </m:oMathPara>
                </a14:m>
                <a:endParaRPr lang="en-US" sz="2600" dirty="0">
                  <a:latin typeface="+mj-lt"/>
                  <a:ea typeface="Arial"/>
                  <a:cs typeface="Arial"/>
                  <a:sym typeface="Arial"/>
                </a:endParaRPr>
              </a:p>
              <a:p>
                <a:pPr marL="0" lvl="0" indent="0" algn="just">
                  <a:lnSpc>
                    <a:spcPct val="100000"/>
                  </a:lnSpc>
                  <a:spcBef>
                    <a:spcPts val="0"/>
                  </a:spcBef>
                  <a:buSzPts val="280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600" i="1"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𝜎</m:t>
                      </m:r>
                      <m:d>
                        <m:dPr>
                          <m:ctrlPr>
                            <a:rPr lang="pl-PL" sz="2600" i="1">
                              <a:latin typeface="Cambria Math" panose="02040503050406030204" pitchFamily="18" charset="0"/>
                              <a:ea typeface="Arial"/>
                              <a:cs typeface="Arial"/>
                              <a:sym typeface="Arial"/>
                            </a:rPr>
                          </m:ctrlPr>
                        </m:dPr>
                        <m:e>
                          <m:r>
                            <a:rPr lang="pl-PL" sz="2600" i="1">
                              <a:latin typeface="Cambria Math" panose="02040503050406030204" pitchFamily="18" charset="0"/>
                              <a:ea typeface="Arial"/>
                              <a:cs typeface="Arial"/>
                              <a:sym typeface="Arial"/>
                            </a:rPr>
                            <m:t>𝑧</m:t>
                          </m:r>
                        </m:e>
                      </m:d>
                      <m:r>
                        <a:rPr lang="pl-PL" sz="2600" i="1"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=</m:t>
                      </m:r>
                      <m:f>
                        <m:fPr>
                          <m:ctrlPr>
                            <a:rPr lang="pl-PL" sz="2600" i="1">
                              <a:latin typeface="Cambria Math" panose="02040503050406030204" pitchFamily="18" charset="0"/>
                              <a:ea typeface="Arial"/>
                              <a:cs typeface="Arial"/>
                              <a:sym typeface="Arial"/>
                            </a:rPr>
                          </m:ctrlPr>
                        </m:fPr>
                        <m:num>
                          <m:r>
                            <a:rPr lang="pl-PL" sz="2600" i="1">
                              <a:latin typeface="Cambria Math" panose="02040503050406030204" pitchFamily="18" charset="0"/>
                              <a:ea typeface="Arial"/>
                              <a:cs typeface="Arial"/>
                              <a:sym typeface="Arial"/>
                            </a:rPr>
                            <m:t>1</m:t>
                          </m:r>
                        </m:num>
                        <m:den>
                          <m:r>
                            <a:rPr lang="pl-PL" sz="2600" i="1">
                              <a:latin typeface="Cambria Math" panose="02040503050406030204" pitchFamily="18" charset="0"/>
                              <a:ea typeface="Arial"/>
                              <a:cs typeface="Arial"/>
                              <a:sym typeface="Arial"/>
                            </a:rPr>
                            <m:t>1 + </m:t>
                          </m:r>
                          <m:sSup>
                            <m:sSupPr>
                              <m:ctrlPr>
                                <a:rPr lang="pl-PL" sz="2600" i="1"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  <a:sym typeface="Arial"/>
                                </a:rPr>
                              </m:ctrlPr>
                            </m:sSupPr>
                            <m:e>
                              <m:r>
                                <a:rPr lang="pl-PL" sz="2600" i="1"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  <a:sym typeface="Arial"/>
                                </a:rPr>
                                <m:t>𝑒</m:t>
                              </m:r>
                            </m:e>
                            <m:sup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pl-PL" sz="2600" i="1">
                                      <a:latin typeface="Cambria Math" panose="02040503050406030204" pitchFamily="18" charset="0"/>
                                      <a:ea typeface="Arial"/>
                                      <a:cs typeface="Arial"/>
                                      <a:sym typeface="Arial"/>
                                    </a:rPr>
                                  </m:ctrlPr>
                                </m:dPr>
                                <m:e>
                                  <m:r>
                                    <a:rPr lang="pl-PL" sz="2600" i="1">
                                      <a:latin typeface="Cambria Math" panose="02040503050406030204" pitchFamily="18" charset="0"/>
                                      <a:ea typeface="Arial"/>
                                      <a:cs typeface="Arial"/>
                                      <a:sym typeface="Arial"/>
                                    </a:rPr>
                                    <m:t>-</m:t>
                                  </m:r>
                                  <m:r>
                                    <a:rPr lang="pl-PL" sz="2600" i="1">
                                      <a:latin typeface="Cambria Math" panose="02040503050406030204" pitchFamily="18" charset="0"/>
                                      <a:ea typeface="Arial"/>
                                      <a:cs typeface="Arial"/>
                                      <a:sym typeface="Arial"/>
                                    </a:rPr>
                                    <m:t>𝑧</m:t>
                                  </m:r>
                                </m:e>
                              </m:d>
                            </m:sup>
                          </m:sSup>
                        </m:den>
                      </m:f>
                    </m:oMath>
                  </m:oMathPara>
                </a14:m>
                <a:endParaRPr lang="en-US" sz="2600" dirty="0">
                  <a:latin typeface="+mj-lt"/>
                  <a:ea typeface="Arial"/>
                  <a:cs typeface="Arial"/>
                  <a:sym typeface="Arial"/>
                </a:endParaRPr>
              </a:p>
              <a:p>
                <a:pPr marL="0" lvl="0" indent="0" algn="just">
                  <a:lnSpc>
                    <a:spcPct val="100000"/>
                  </a:lnSpc>
                  <a:spcBef>
                    <a:spcPts val="0"/>
                  </a:spcBef>
                  <a:buSzPts val="280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n-NO" sz="2600" i="1" smtClean="0"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𝐿</m:t>
                      </m:r>
                      <m:r>
                        <a:rPr lang="nn-NO" sz="2600" i="1" smtClean="0"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=−</m:t>
                      </m:r>
                      <m:f>
                        <m:fPr>
                          <m:ctrlPr>
                            <a:rPr lang="nn-NO" sz="2600" i="1">
                              <a:latin typeface="Cambria Math" panose="02040503050406030204" pitchFamily="18" charset="0"/>
                              <a:ea typeface="Arial"/>
                              <a:cs typeface="Arial"/>
                              <a:sym typeface="Arial"/>
                            </a:rPr>
                          </m:ctrlPr>
                        </m:fPr>
                        <m:num>
                          <m:r>
                            <a:rPr lang="nn-NO" sz="2600" i="1">
                              <a:latin typeface="Cambria Math" panose="02040503050406030204" pitchFamily="18" charset="0"/>
                              <a:ea typeface="Arial"/>
                              <a:cs typeface="Arial"/>
                              <a:sym typeface="Arial"/>
                            </a:rPr>
                            <m:t>1</m:t>
                          </m:r>
                        </m:num>
                        <m:den>
                          <m:r>
                            <a:rPr lang="nn-NO" sz="2600" i="1">
                              <a:latin typeface="Cambria Math" panose="02040503050406030204" pitchFamily="18" charset="0"/>
                              <a:ea typeface="Arial"/>
                              <a:cs typeface="Arial"/>
                              <a:sym typeface="Arial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nn-NO" sz="2600" i="1">
                              <a:latin typeface="Cambria Math" panose="02040503050406030204" pitchFamily="18" charset="0"/>
                              <a:ea typeface="Arial"/>
                              <a:cs typeface="Arial"/>
                              <a:sym typeface="Arial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nn-NO" sz="2600" i="1"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  <a:sym typeface="Arial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nn-NO" sz="2600" i="1">
                                      <a:latin typeface="Cambria Math" panose="02040503050406030204" pitchFamily="18" charset="0"/>
                                      <a:ea typeface="Arial"/>
                                      <a:cs typeface="Arial"/>
                                      <a:sym typeface="Arial"/>
                                    </a:rPr>
                                  </m:ctrlPr>
                                </m:sSubPr>
                                <m:e>
                                  <m:r>
                                    <a:rPr lang="nn-NO" sz="2600" i="1">
                                      <a:latin typeface="Cambria Math" panose="02040503050406030204" pitchFamily="18" charset="0"/>
                                      <a:ea typeface="Arial"/>
                                      <a:cs typeface="Arial"/>
                                      <a:sym typeface="Arial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nn-NO" sz="2600" i="1">
                                      <a:latin typeface="Cambria Math" panose="02040503050406030204" pitchFamily="18" charset="0"/>
                                      <a:ea typeface="Arial"/>
                                      <a:cs typeface="Arial"/>
                                      <a:sym typeface="Arial"/>
                                    </a:rPr>
                                    <m:t>𝑖</m:t>
                                  </m:r>
                                </m:sub>
                              </m:sSub>
                              <m:func>
                                <m:funcPr>
                                  <m:ctrlPr>
                                    <a:rPr lang="nn-NO" sz="2600" i="0">
                                      <a:latin typeface="Cambria Math" panose="02040503050406030204" pitchFamily="18" charset="0"/>
                                      <a:ea typeface="Arial"/>
                                      <a:cs typeface="Arial"/>
                                      <a:sym typeface="Arial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nn-NO" sz="2600" i="0">
                                      <a:latin typeface="Cambria Math" panose="02040503050406030204" pitchFamily="18" charset="0"/>
                                      <a:ea typeface="Arial"/>
                                      <a:cs typeface="Arial"/>
                                      <a:sym typeface="Arial"/>
                                    </a:rPr>
                                    <m:t>log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nn-NO" sz="2600" i="1">
                                          <a:latin typeface="Cambria Math" panose="02040503050406030204" pitchFamily="18" charset="0"/>
                                          <a:ea typeface="Arial"/>
                                          <a:cs typeface="Arial"/>
                                          <a:sym typeface="Arial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nn-NO" sz="2600" i="1">
                                              <a:latin typeface="Cambria Math" panose="02040503050406030204" pitchFamily="18" charset="0"/>
                                              <a:ea typeface="Arial"/>
                                              <a:cs typeface="Arial"/>
                                              <a:sym typeface="Arial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nn-NO" sz="2600" i="1">
                                              <a:latin typeface="Cambria Math" panose="02040503050406030204" pitchFamily="18" charset="0"/>
                                              <a:ea typeface="Arial"/>
                                              <a:cs typeface="Arial"/>
                                              <a:sym typeface="Arial"/>
                                            </a:rPr>
                                            <m:t>𝑝</m:t>
                                          </m:r>
                                        </m:e>
                                        <m:sub>
                                          <m:r>
                                            <a:rPr lang="nn-NO" sz="2600" i="1">
                                              <a:latin typeface="Cambria Math" panose="02040503050406030204" pitchFamily="18" charset="0"/>
                                              <a:ea typeface="Arial"/>
                                              <a:cs typeface="Arial"/>
                                              <a:sym typeface="Arial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func>
                              <m:r>
                                <a:rPr lang="nn-NO" sz="2600" i="1"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  <a:sym typeface="Arial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nn-NO" sz="2600" i="1">
                                      <a:latin typeface="Cambria Math" panose="02040503050406030204" pitchFamily="18" charset="0"/>
                                      <a:ea typeface="Arial"/>
                                      <a:cs typeface="Arial"/>
                                      <a:sym typeface="Arial"/>
                                    </a:rPr>
                                  </m:ctrlPr>
                                </m:dPr>
                                <m:e>
                                  <m:r>
                                    <a:rPr lang="nn-NO" sz="2600" i="1">
                                      <a:latin typeface="Cambria Math" panose="02040503050406030204" pitchFamily="18" charset="0"/>
                                      <a:ea typeface="Arial"/>
                                      <a:cs typeface="Arial"/>
                                      <a:sym typeface="Arial"/>
                                    </a:rPr>
                                    <m:t>1−</m:t>
                                  </m:r>
                                  <m:sSub>
                                    <m:sSubPr>
                                      <m:ctrlPr>
                                        <a:rPr lang="nn-NO" sz="2600" i="1">
                                          <a:latin typeface="Cambria Math" panose="02040503050406030204" pitchFamily="18" charset="0"/>
                                          <a:ea typeface="Arial"/>
                                          <a:cs typeface="Arial"/>
                                          <a:sym typeface="Arial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nn-NO" sz="2600" i="1">
                                          <a:latin typeface="Cambria Math" panose="02040503050406030204" pitchFamily="18" charset="0"/>
                                          <a:ea typeface="Arial"/>
                                          <a:cs typeface="Arial"/>
                                          <a:sym typeface="Arial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nn-NO" sz="2600" i="1">
                                          <a:latin typeface="Cambria Math" panose="02040503050406030204" pitchFamily="18" charset="0"/>
                                          <a:ea typeface="Arial"/>
                                          <a:cs typeface="Arial"/>
                                          <a:sym typeface="Arial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func>
                                <m:funcPr>
                                  <m:ctrlPr>
                                    <a:rPr lang="nn-NO" sz="2600" i="0">
                                      <a:latin typeface="Cambria Math" panose="02040503050406030204" pitchFamily="18" charset="0"/>
                                      <a:ea typeface="Arial"/>
                                      <a:cs typeface="Arial"/>
                                      <a:sym typeface="Arial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nn-NO" sz="2600" i="0">
                                      <a:latin typeface="Cambria Math" panose="02040503050406030204" pitchFamily="18" charset="0"/>
                                      <a:ea typeface="Arial"/>
                                      <a:cs typeface="Arial"/>
                                      <a:sym typeface="Arial"/>
                                    </a:rPr>
                                    <m:t>log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nn-NO" sz="2600" i="1">
                                          <a:latin typeface="Cambria Math" panose="02040503050406030204" pitchFamily="18" charset="0"/>
                                          <a:ea typeface="Arial"/>
                                          <a:cs typeface="Arial"/>
                                          <a:sym typeface="Arial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nn-NO" sz="2600" i="1">
                                          <a:latin typeface="Cambria Math" panose="02040503050406030204" pitchFamily="18" charset="0"/>
                                          <a:ea typeface="Arial"/>
                                          <a:cs typeface="Arial"/>
                                          <a:sym typeface="Arial"/>
                                        </a:rPr>
                                        <m:t>1−</m:t>
                                      </m:r>
                                      <m:sSub>
                                        <m:sSubPr>
                                          <m:ctrlPr>
                                            <a:rPr lang="nn-NO" sz="2600" i="1">
                                              <a:latin typeface="Cambria Math" panose="02040503050406030204" pitchFamily="18" charset="0"/>
                                              <a:ea typeface="Arial"/>
                                              <a:cs typeface="Arial"/>
                                              <a:sym typeface="Arial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nn-NO" sz="2600" i="1">
                                              <a:latin typeface="Cambria Math" panose="02040503050406030204" pitchFamily="18" charset="0"/>
                                              <a:ea typeface="Arial"/>
                                              <a:cs typeface="Arial"/>
                                              <a:sym typeface="Arial"/>
                                            </a:rPr>
                                            <m:t>𝑝</m:t>
                                          </m:r>
                                        </m:e>
                                        <m:sub>
                                          <m:r>
                                            <a:rPr lang="nn-NO" sz="2600" i="1">
                                              <a:latin typeface="Cambria Math" panose="02040503050406030204" pitchFamily="18" charset="0"/>
                                              <a:ea typeface="Arial"/>
                                              <a:cs typeface="Arial"/>
                                              <a:sym typeface="Arial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func>
                            </m:e>
                          </m:d>
                        </m:e>
                      </m:nary>
                    </m:oMath>
                  </m:oMathPara>
                </a14:m>
                <a:endParaRPr lang="en-US" sz="2600" dirty="0">
                  <a:latin typeface="+mj-lt"/>
                  <a:ea typeface="Arial"/>
                  <a:cs typeface="Arial"/>
                  <a:sym typeface="Arial"/>
                </a:endParaRPr>
              </a:p>
              <a:p>
                <a:pPr marL="228600" lvl="0" indent="-228600" algn="just">
                  <a:lnSpc>
                    <a:spcPct val="150000"/>
                  </a:lnSpc>
                  <a:spcBef>
                    <a:spcPts val="0"/>
                  </a:spcBef>
                  <a:buSzPts val="2800"/>
                </a:pPr>
                <a:r>
                  <a:rPr lang="en-US" sz="2400" b="1" dirty="0">
                    <a:latin typeface="+mj-lt"/>
                    <a:ea typeface="Arial"/>
                    <a:cs typeface="Arial"/>
                    <a:sym typeface="Arial"/>
                  </a:rPr>
                  <a:t>LR</a:t>
                </a:r>
                <a:r>
                  <a:rPr lang="en-US" sz="2400" dirty="0">
                    <a:latin typeface="+mj-lt"/>
                    <a:ea typeface="Arial"/>
                    <a:cs typeface="Arial"/>
                    <a:sym typeface="Arial"/>
                  </a:rPr>
                  <a:t>: weighted </a:t>
                </a:r>
                <a:r>
                  <a:rPr lang="en-US" sz="2400" b="1" dirty="0">
                    <a:latin typeface="+mj-lt"/>
                    <a:ea typeface="Arial"/>
                    <a:cs typeface="Arial"/>
                    <a:sym typeface="Arial"/>
                  </a:rPr>
                  <a:t>sum</a:t>
                </a:r>
                <a:r>
                  <a:rPr lang="en-US" sz="2400" dirty="0">
                    <a:latin typeface="+mj-lt"/>
                    <a:ea typeface="Arial"/>
                    <a:cs typeface="Arial"/>
                    <a:sym typeface="Arial"/>
                  </a:rPr>
                  <a:t> of features -- </a:t>
                </a:r>
                <a:r>
                  <a:rPr lang="en-US" sz="2400" b="1" dirty="0">
                    <a:latin typeface="+mj-lt"/>
                    <a:ea typeface="Arial"/>
                    <a:cs typeface="Arial"/>
                    <a:sym typeface="Arial"/>
                  </a:rPr>
                  <a:t>sigmoid</a:t>
                </a:r>
                <a:r>
                  <a:rPr lang="en-US" sz="2400" dirty="0">
                    <a:latin typeface="+mj-lt"/>
                    <a:ea typeface="Arial"/>
                    <a:cs typeface="Arial"/>
                    <a:sym typeface="Arial"/>
                  </a:rPr>
                  <a:t> squishes </a:t>
                </a:r>
                <a:r>
                  <a:rPr lang="en-US" sz="2400" b="1" dirty="0">
                    <a:latin typeface="+mj-lt"/>
                    <a:ea typeface="Arial"/>
                    <a:cs typeface="Arial"/>
                    <a:sym typeface="Arial"/>
                  </a:rPr>
                  <a:t>to probability [0, 1] </a:t>
                </a:r>
                <a:r>
                  <a:rPr lang="en-US" sz="2400" dirty="0">
                    <a:latin typeface="+mj-lt"/>
                    <a:ea typeface="Arial"/>
                    <a:cs typeface="Arial"/>
                    <a:sym typeface="Arial"/>
                  </a:rPr>
                  <a:t>–</a:t>
                </a:r>
              </a:p>
              <a:p>
                <a:pPr marL="0" lvl="0" indent="0" algn="just">
                  <a:lnSpc>
                    <a:spcPct val="150000"/>
                  </a:lnSpc>
                  <a:spcBef>
                    <a:spcPts val="0"/>
                  </a:spcBef>
                  <a:buSzPts val="2800"/>
                  <a:buNone/>
                </a:pPr>
                <a:r>
                  <a:rPr lang="en-US" sz="2400" dirty="0">
                    <a:latin typeface="+mj-lt"/>
                    <a:ea typeface="Arial"/>
                    <a:cs typeface="Arial"/>
                    <a:sym typeface="Arial"/>
                  </a:rPr>
                  <a:t>	 above </a:t>
                </a:r>
                <a:r>
                  <a:rPr lang="en-US" sz="2400" b="1" dirty="0">
                    <a:latin typeface="+mj-lt"/>
                    <a:ea typeface="Arial"/>
                    <a:cs typeface="Arial"/>
                    <a:sym typeface="Arial"/>
                  </a:rPr>
                  <a:t>threshold</a:t>
                </a:r>
                <a:r>
                  <a:rPr lang="en-US" sz="2400" dirty="0">
                    <a:latin typeface="+mj-lt"/>
                    <a:ea typeface="Arial"/>
                    <a:cs typeface="Arial"/>
                    <a:sym typeface="Arial"/>
                  </a:rPr>
                  <a:t>(0.5) = disease</a:t>
                </a:r>
              </a:p>
              <a:p>
                <a:pPr marL="228600" lvl="0" indent="-228600" algn="just">
                  <a:lnSpc>
                    <a:spcPct val="150000"/>
                  </a:lnSpc>
                  <a:spcBef>
                    <a:spcPts val="0"/>
                  </a:spcBef>
                  <a:buSzPts val="2800"/>
                </a:pPr>
                <a:r>
                  <a:rPr lang="en-US" sz="2400" b="1" dirty="0">
                    <a:latin typeface="+mj-lt"/>
                    <a:ea typeface="Arial"/>
                    <a:cs typeface="Arial"/>
                    <a:sym typeface="Arial"/>
                  </a:rPr>
                  <a:t>Loss function </a:t>
                </a:r>
                <a:r>
                  <a:rPr lang="en-US" sz="2400" dirty="0">
                    <a:latin typeface="+mj-lt"/>
                    <a:ea typeface="Arial"/>
                    <a:cs typeface="Arial"/>
                    <a:sym typeface="Arial"/>
                  </a:rPr>
                  <a:t>(</a:t>
                </a:r>
                <a:r>
                  <a:rPr lang="en-US" sz="2400" b="1" dirty="0">
                    <a:latin typeface="+mj-lt"/>
                    <a:ea typeface="Arial"/>
                    <a:cs typeface="Arial"/>
                    <a:sym typeface="Arial"/>
                  </a:rPr>
                  <a:t>binary cross-entropy</a:t>
                </a:r>
                <a:r>
                  <a:rPr lang="en-US" sz="2400" dirty="0">
                    <a:latin typeface="+mj-lt"/>
                    <a:ea typeface="Arial"/>
                    <a:cs typeface="Arial"/>
                    <a:sym typeface="Arial"/>
                  </a:rPr>
                  <a:t>) measures </a:t>
                </a:r>
                <a:r>
                  <a:rPr lang="en-US" sz="2400" b="1" dirty="0">
                    <a:latin typeface="+mj-lt"/>
                    <a:ea typeface="Arial"/>
                    <a:cs typeface="Arial"/>
                    <a:sym typeface="Arial"/>
                  </a:rPr>
                  <a:t>prediction error</a:t>
                </a:r>
                <a:r>
                  <a:rPr lang="en-US" sz="2400" dirty="0">
                    <a:latin typeface="+mj-lt"/>
                    <a:ea typeface="Arial"/>
                    <a:cs typeface="Arial"/>
                    <a:sym typeface="Arial"/>
                  </a:rPr>
                  <a:t>; model minimizes it during training</a:t>
                </a:r>
                <a:endParaRPr sz="2400" dirty="0">
                  <a:latin typeface="+mj-lt"/>
                  <a:ea typeface="Arial"/>
                  <a:cs typeface="Arial"/>
                  <a:sym typeface="Arial"/>
                </a:endParaRPr>
              </a:p>
            </p:txBody>
          </p:sp>
        </mc:Choice>
        <mc:Fallback>
          <p:sp>
            <p:nvSpPr>
              <p:cNvPr id="120" name="Google Shape;120;p4">
                <a:extLst>
                  <a:ext uri="{FF2B5EF4-FFF2-40B4-BE49-F238E27FC236}">
                    <a16:creationId xmlns:a16="http://schemas.microsoft.com/office/drawing/2014/main" id="{FA471A8B-D073-AB67-5A3E-C1F9C0CEB92F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914400" y="1600200"/>
                <a:ext cx="10058400" cy="4572000"/>
              </a:xfrm>
              <a:prstGeom prst="rect">
                <a:avLst/>
              </a:prstGeom>
              <a:blipFill>
                <a:blip r:embed="rId3"/>
                <a:stretch>
                  <a:fillRect l="-1091" r="-78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1" name="Google Shape;121;p4">
            <a:extLst>
              <a:ext uri="{FF2B5EF4-FFF2-40B4-BE49-F238E27FC236}">
                <a16:creationId xmlns:a16="http://schemas.microsoft.com/office/drawing/2014/main" id="{B972B6E8-27E7-E89F-D022-58739CEBEC49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9D4AB501-B5DD-4B37-A024-15CD0C7ABC42}" type="datetime1">
              <a:rPr lang="en-US" smtClean="0">
                <a:latin typeface="+mj-lt"/>
              </a:rPr>
              <a:t>3/14/2026</a:t>
            </a:fld>
            <a:endParaRPr dirty="0">
              <a:latin typeface="+mj-lt"/>
            </a:endParaRPr>
          </a:p>
        </p:txBody>
      </p:sp>
      <p:sp>
        <p:nvSpPr>
          <p:cNvPr id="122" name="Google Shape;122;p4">
            <a:extLst>
              <a:ext uri="{FF2B5EF4-FFF2-40B4-BE49-F238E27FC236}">
                <a16:creationId xmlns:a16="http://schemas.microsoft.com/office/drawing/2014/main" id="{48C2848D-35D0-A460-1D56-F793F7DFBD9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latin typeface="+mj-lt"/>
              </a:rPr>
              <a:t>4</a:t>
            </a:fld>
            <a:endParaRPr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4699023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EAC1F002-5123-D2C9-E2A4-3D6EE24B1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">
            <a:extLst>
              <a:ext uri="{FF2B5EF4-FFF2-40B4-BE49-F238E27FC236}">
                <a16:creationId xmlns:a16="http://schemas.microsoft.com/office/drawing/2014/main" id="{23CC307F-3D93-08DD-CE8C-A97D3AE66E9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2286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buSzPts val="4000"/>
            </a:pPr>
            <a:r>
              <a:rPr lang="en-US" sz="4000" b="1" dirty="0">
                <a:latin typeface="+mj-lt"/>
                <a:ea typeface="Arial"/>
                <a:cs typeface="Arial"/>
                <a:sym typeface="Arial"/>
              </a:rPr>
              <a:t>Mathematical Formulation[2]</a:t>
            </a:r>
            <a:endParaRPr dirty="0">
              <a:latin typeface="+mj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0" name="Google Shape;120;p4">
                <a:extLst>
                  <a:ext uri="{FF2B5EF4-FFF2-40B4-BE49-F238E27FC236}">
                    <a16:creationId xmlns:a16="http://schemas.microsoft.com/office/drawing/2014/main" id="{DD413397-80BE-5B92-A81F-7CFB10976DBF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914400" y="1600200"/>
                <a:ext cx="10058400" cy="457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 fontScale="92500"/>
              </a:bodyPr>
              <a:lstStyle/>
              <a:p>
                <a:pPr marL="228600" indent="-228600" algn="just">
                  <a:lnSpc>
                    <a:spcPct val="150000"/>
                  </a:lnSpc>
                  <a:spcBef>
                    <a:spcPts val="0"/>
                  </a:spcBef>
                  <a:buSzPts val="2800"/>
                </a:pPr>
                <a:r>
                  <a:rPr lang="en-US" sz="2400" b="1" dirty="0">
                    <a:latin typeface="+mj-lt"/>
                    <a:ea typeface="Arial"/>
                    <a:cs typeface="Arial"/>
                    <a:sym typeface="Arial"/>
                  </a:rPr>
                  <a:t>ANN</a:t>
                </a:r>
                <a:endParaRPr lang="en-US" sz="2400" i="1" dirty="0">
                  <a:latin typeface="Cambria Math" panose="02040503050406030204" pitchFamily="18" charset="0"/>
                  <a:cs typeface="Arial"/>
                  <a:sym typeface="Arial"/>
                </a:endParaRPr>
              </a:p>
              <a:p>
                <a:pPr marL="0" indent="0" algn="just">
                  <a:lnSpc>
                    <a:spcPct val="150000"/>
                  </a:lnSpc>
                  <a:spcBef>
                    <a:spcPts val="0"/>
                  </a:spcBef>
                  <a:buSzPts val="280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  <a:cs typeface="Arial"/>
                          <a:sym typeface="Arial"/>
                        </a:rPr>
                        <m:t>𝑜𝑢𝑡𝑝𝑢𝑡</m:t>
                      </m:r>
                      <m:r>
                        <a:rPr lang="en-US" sz="2400" i="1">
                          <a:latin typeface="Cambria Math" panose="02040503050406030204" pitchFamily="18" charset="0"/>
                          <a:cs typeface="Arial"/>
                          <a:sym typeface="Arial"/>
                        </a:rPr>
                        <m:t>=</m:t>
                      </m:r>
                      <m:r>
                        <m:rPr>
                          <m:nor/>
                        </m:rPr>
                        <a:rPr lang="en-US" sz="2400">
                          <a:latin typeface="Cambria Math" panose="02040503050406030204" pitchFamily="18" charset="0"/>
                          <a:cs typeface="Arial"/>
                          <a:sym typeface="Arial"/>
                        </a:rPr>
                        <m:t>ReLU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cs typeface="Arial"/>
                              <a:sym typeface="Arial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cs typeface="Arial"/>
                                  <a:sym typeface="Arial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cs typeface="Arial"/>
                                  <a:sym typeface="Arial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cs typeface="Arial"/>
                                  <a:sym typeface="Arial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  <a:cs typeface="Arial"/>
                              <a:sym typeface="Arial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cs typeface="Arial"/>
                                  <a:sym typeface="Arial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cs typeface="Arial"/>
                                  <a:sym typeface="Arial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cs typeface="Arial"/>
                                  <a:sym typeface="Arial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  <a:cs typeface="Arial"/>
                              <a:sym typeface="Arial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cs typeface="Arial"/>
                                  <a:sym typeface="Arial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cs typeface="Arial"/>
                                  <a:sym typeface="Arial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cs typeface="Arial"/>
                                  <a:sym typeface="Arial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  <a:cs typeface="Arial"/>
                              <a:sym typeface="Arial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cs typeface="Arial"/>
                                  <a:sym typeface="Arial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cs typeface="Arial"/>
                                  <a:sym typeface="Arial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cs typeface="Arial"/>
                                  <a:sym typeface="Arial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  <a:cs typeface="Arial"/>
                              <a:sym typeface="Arial"/>
                            </a:rPr>
                            <m:t>+…+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cs typeface="Arial"/>
                                  <a:sym typeface="Arial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cs typeface="Arial"/>
                                  <a:sym typeface="Arial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cs typeface="Arial"/>
                                  <a:sym typeface="Arial"/>
                                </a:rPr>
                                <m:t>13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  <a:cs typeface="Arial"/>
                              <a:sym typeface="Arial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cs typeface="Arial"/>
                                  <a:sym typeface="Arial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cs typeface="Arial"/>
                                  <a:sym typeface="Arial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cs typeface="Arial"/>
                                  <a:sym typeface="Arial"/>
                                </a:rPr>
                                <m:t>13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  <a:cs typeface="Arial"/>
                              <a:sym typeface="Arial"/>
                            </a:rPr>
                            <m:t>+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cs typeface="Arial"/>
                              <a:sym typeface="Arial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en-US" sz="2400" b="1" dirty="0">
                  <a:latin typeface="+mj-lt"/>
                  <a:ea typeface="Arial"/>
                  <a:cs typeface="Arial"/>
                  <a:sym typeface="Arial"/>
                </a:endParaRPr>
              </a:p>
              <a:p>
                <a:pPr marL="457200" lvl="1" indent="0" algn="just">
                  <a:lnSpc>
                    <a:spcPct val="150000"/>
                  </a:lnSpc>
                  <a:spcBef>
                    <a:spcPts val="0"/>
                  </a:spcBef>
                  <a:buSzPts val="280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𝑓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Arial"/>
                              <a:cs typeface="Arial"/>
                              <a:sym typeface="Arial"/>
                            </a:rPr>
                          </m:ctrlPr>
                        </m:dPr>
                        <m:e>
                          <m:r>
                            <a:rPr lang="en-US" b="0" i="1">
                              <a:latin typeface="Cambria Math" panose="02040503050406030204" pitchFamily="18" charset="0"/>
                              <a:ea typeface="Arial"/>
                              <a:cs typeface="Arial"/>
                              <a:sym typeface="Arial"/>
                            </a:rPr>
                            <m:t>𝑥</m:t>
                          </m:r>
                        </m:e>
                      </m:d>
                      <m:r>
                        <a:rPr lang="en-US" b="0" i="1"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=</m:t>
                      </m:r>
                      <m:func>
                        <m:funcPr>
                          <m:ctrlPr>
                            <a:rPr lang="en-US" i="0">
                              <a:latin typeface="Cambria Math" panose="02040503050406030204" pitchFamily="18" charset="0"/>
                              <a:ea typeface="Arial"/>
                              <a:cs typeface="Arial"/>
                              <a:sym typeface="Arial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>
                              <a:latin typeface="Cambria Math" panose="02040503050406030204" pitchFamily="18" charset="0"/>
                              <a:ea typeface="Arial"/>
                              <a:cs typeface="Arial"/>
                              <a:sym typeface="Arial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  <a:sym typeface="Arial"/>
                                </a:rPr>
                              </m:ctrlPr>
                            </m:d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  <a:sym typeface="Arial"/>
                                </a:rPr>
                                <m:t>0,</m:t>
                              </m:r>
                              <m:r>
                                <a:rPr lang="en-US" b="0" i="1"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  <a:sym typeface="Arial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m:rPr>
                          <m:nor/>
                        </m:rPr>
                        <a:rPr lang="en-US" i="0"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(</m:t>
                      </m:r>
                      <m:r>
                        <m:rPr>
                          <m:nor/>
                        </m:rPr>
                        <a:rPr lang="en-US" i="0"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ReLU</m:t>
                      </m:r>
                      <m:r>
                        <m:rPr>
                          <m:nor/>
                        </m:rPr>
                        <a:rPr lang="en-US" i="0"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)</m:t>
                      </m:r>
                    </m:oMath>
                  </m:oMathPara>
                </a14:m>
                <a:endParaRPr lang="en-US" dirty="0">
                  <a:latin typeface="+mj-lt"/>
                  <a:ea typeface="Arial"/>
                  <a:cs typeface="Arial"/>
                  <a:sym typeface="Arial"/>
                </a:endParaRPr>
              </a:p>
              <a:p>
                <a:pPr marL="457200" lvl="1" indent="0" algn="just">
                  <a:lnSpc>
                    <a:spcPct val="150000"/>
                  </a:lnSpc>
                  <a:spcBef>
                    <a:spcPts val="0"/>
                  </a:spcBef>
                  <a:buSzPts val="280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Arial"/>
                              <a:cs typeface="Arial"/>
                              <a:sym typeface="Arial"/>
                            </a:rPr>
                          </m:ctrlPr>
                        </m:sSubPr>
                        <m:e>
                          <m:r>
                            <a:rPr lang="en-US" b="0" i="1">
                              <a:latin typeface="Cambria Math" panose="02040503050406030204" pitchFamily="18" charset="0"/>
                              <a:ea typeface="Arial"/>
                              <a:cs typeface="Arial"/>
                              <a:sym typeface="Arial"/>
                            </a:rPr>
                            <m:t>𝑤</m:t>
                          </m:r>
                        </m:e>
                        <m:sub>
                          <m:r>
                            <a:rPr lang="en-US" b="0" i="1">
                              <a:latin typeface="Cambria Math" panose="02040503050406030204" pitchFamily="18" charset="0"/>
                              <a:ea typeface="Arial"/>
                              <a:cs typeface="Arial"/>
                              <a:sym typeface="Arial"/>
                            </a:rPr>
                            <m:t>𝑛𝑒𝑤</m:t>
                          </m:r>
                        </m:sub>
                      </m:sSub>
                      <m:r>
                        <a:rPr lang="en-US" b="0" i="1"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Arial"/>
                              <a:cs typeface="Arial"/>
                              <a:sym typeface="Arial"/>
                            </a:rPr>
                          </m:ctrlPr>
                        </m:sSubPr>
                        <m:e>
                          <m:r>
                            <a:rPr lang="en-US" b="0" i="1">
                              <a:latin typeface="Cambria Math" panose="02040503050406030204" pitchFamily="18" charset="0"/>
                              <a:ea typeface="Arial"/>
                              <a:cs typeface="Arial"/>
                              <a:sym typeface="Arial"/>
                            </a:rPr>
                            <m:t>𝑤</m:t>
                          </m:r>
                        </m:e>
                        <m:sub>
                          <m:r>
                            <a:rPr lang="en-US" b="0" i="1">
                              <a:latin typeface="Cambria Math" panose="02040503050406030204" pitchFamily="18" charset="0"/>
                              <a:ea typeface="Arial"/>
                              <a:cs typeface="Arial"/>
                              <a:sym typeface="Arial"/>
                            </a:rPr>
                            <m:t>𝑜𝑙𝑑</m:t>
                          </m:r>
                        </m:sub>
                      </m:sSub>
                      <m:r>
                        <a:rPr lang="en-US" b="0" i="1"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−</m:t>
                      </m:r>
                      <m:r>
                        <a:rPr lang="en-US" b="0" i="1"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𝛼</m:t>
                      </m:r>
                      <m:r>
                        <a:rPr lang="en-US" b="0" i="1"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⋅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Arial"/>
                              <a:cs typeface="Arial"/>
                              <a:sym typeface="Arial"/>
                            </a:rPr>
                          </m:ctrlPr>
                        </m:fPr>
                        <m:num>
                          <m:r>
                            <a:rPr lang="en-US" b="0" i="1">
                              <a:latin typeface="Cambria Math" panose="02040503050406030204" pitchFamily="18" charset="0"/>
                              <a:ea typeface="Arial"/>
                              <a:cs typeface="Arial"/>
                              <a:sym typeface="Arial"/>
                            </a:rPr>
                            <m:t>𝜕</m:t>
                          </m:r>
                          <m:r>
                            <a:rPr lang="en-US" b="0" i="1">
                              <a:latin typeface="Cambria Math" panose="02040503050406030204" pitchFamily="18" charset="0"/>
                              <a:ea typeface="Arial"/>
                              <a:cs typeface="Arial"/>
                              <a:sym typeface="Arial"/>
                            </a:rPr>
                            <m:t>𝐿</m:t>
                          </m:r>
                        </m:num>
                        <m:den>
                          <m:r>
                            <a:rPr lang="en-US" b="0" i="1">
                              <a:latin typeface="Cambria Math" panose="02040503050406030204" pitchFamily="18" charset="0"/>
                              <a:ea typeface="Arial"/>
                              <a:cs typeface="Arial"/>
                              <a:sym typeface="Arial"/>
                            </a:rPr>
                            <m:t>𝜕</m:t>
                          </m:r>
                          <m:r>
                            <a:rPr lang="en-US" b="0" i="1">
                              <a:latin typeface="Cambria Math" panose="02040503050406030204" pitchFamily="18" charset="0"/>
                              <a:ea typeface="Arial"/>
                              <a:cs typeface="Arial"/>
                              <a:sym typeface="Arial"/>
                            </a:rPr>
                            <m:t>𝑤</m:t>
                          </m:r>
                        </m:den>
                      </m:f>
                    </m:oMath>
                  </m:oMathPara>
                </a14:m>
                <a:endParaRPr lang="en-US" dirty="0">
                  <a:latin typeface="+mj-lt"/>
                  <a:ea typeface="Arial"/>
                  <a:cs typeface="Arial"/>
                  <a:sym typeface="Arial"/>
                </a:endParaRPr>
              </a:p>
              <a:p>
                <a:pPr marL="228600" lvl="0" indent="-228600" algn="just">
                  <a:lnSpc>
                    <a:spcPct val="150000"/>
                  </a:lnSpc>
                  <a:spcBef>
                    <a:spcPts val="0"/>
                  </a:spcBef>
                  <a:buSzPts val="2800"/>
                </a:pPr>
                <a:r>
                  <a:rPr lang="en-US" sz="2200" b="1" dirty="0">
                    <a:latin typeface="+mj-lt"/>
                    <a:ea typeface="Arial"/>
                    <a:cs typeface="Arial"/>
                    <a:sym typeface="Arial"/>
                  </a:rPr>
                  <a:t>ANN</a:t>
                </a:r>
                <a:r>
                  <a:rPr lang="en-US" sz="2200" dirty="0">
                    <a:latin typeface="+mj-lt"/>
                    <a:ea typeface="Arial"/>
                    <a:cs typeface="Arial"/>
                    <a:sym typeface="Arial"/>
                  </a:rPr>
                  <a:t>: </a:t>
                </a:r>
                <a:r>
                  <a:rPr lang="en-US" sz="2200" b="1" dirty="0" err="1">
                    <a:latin typeface="+mj-lt"/>
                    <a:ea typeface="Arial"/>
                    <a:cs typeface="Arial"/>
                    <a:sym typeface="Arial"/>
                  </a:rPr>
                  <a:t>ReLU</a:t>
                </a:r>
                <a:r>
                  <a:rPr lang="en-US" sz="2200" dirty="0">
                    <a:latin typeface="+mj-lt"/>
                    <a:ea typeface="Arial"/>
                    <a:cs typeface="Arial"/>
                    <a:sym typeface="Arial"/>
                  </a:rPr>
                  <a:t> in hidden layers (</a:t>
                </a:r>
                <a:r>
                  <a:rPr lang="en-US" sz="2200" b="1" dirty="0">
                    <a:latin typeface="+mj-lt"/>
                    <a:ea typeface="Arial"/>
                    <a:cs typeface="Arial"/>
                    <a:sym typeface="Arial"/>
                  </a:rPr>
                  <a:t>zeros out negatives</a:t>
                </a:r>
                <a:r>
                  <a:rPr lang="en-US" sz="2200" dirty="0">
                    <a:latin typeface="+mj-lt"/>
                    <a:ea typeface="Arial"/>
                    <a:cs typeface="Arial"/>
                    <a:sym typeface="Arial"/>
                  </a:rPr>
                  <a:t>) -- weights updated via gradient descent</a:t>
                </a:r>
              </a:p>
              <a:p>
                <a:pPr marL="228600" lvl="0" indent="-228600" algn="just">
                  <a:lnSpc>
                    <a:spcPct val="150000"/>
                  </a:lnSpc>
                  <a:spcBef>
                    <a:spcPts val="0"/>
                  </a:spcBef>
                  <a:buSzPts val="2800"/>
                </a:pPr>
                <a:r>
                  <a:rPr lang="en-US" sz="2200" b="1" dirty="0">
                    <a:latin typeface="+mj-lt"/>
                    <a:ea typeface="Arial"/>
                    <a:cs typeface="Arial"/>
                    <a:sym typeface="Arial"/>
                  </a:rPr>
                  <a:t>Gradient</a:t>
                </a:r>
                <a:r>
                  <a:rPr lang="en-US" sz="2200" dirty="0">
                    <a:latin typeface="+mj-lt"/>
                    <a:ea typeface="Arial"/>
                    <a:cs typeface="Arial"/>
                    <a:sym typeface="Arial"/>
                  </a:rPr>
                  <a:t> shows each weight's error contribution -- weight adjusted accordingly</a:t>
                </a:r>
              </a:p>
            </p:txBody>
          </p:sp>
        </mc:Choice>
        <mc:Fallback>
          <p:sp>
            <p:nvSpPr>
              <p:cNvPr id="120" name="Google Shape;120;p4">
                <a:extLst>
                  <a:ext uri="{FF2B5EF4-FFF2-40B4-BE49-F238E27FC236}">
                    <a16:creationId xmlns:a16="http://schemas.microsoft.com/office/drawing/2014/main" id="{DD413397-80BE-5B92-A81F-7CFB10976DBF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914400" y="1600200"/>
                <a:ext cx="10058400" cy="4572000"/>
              </a:xfrm>
              <a:prstGeom prst="rect">
                <a:avLst/>
              </a:prstGeom>
              <a:blipFill>
                <a:blip r:embed="rId3"/>
                <a:stretch>
                  <a:fillRect l="-1091" t="-133" r="-60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1" name="Google Shape;121;p4">
            <a:extLst>
              <a:ext uri="{FF2B5EF4-FFF2-40B4-BE49-F238E27FC236}">
                <a16:creationId xmlns:a16="http://schemas.microsoft.com/office/drawing/2014/main" id="{AAA5497A-CE4A-E65F-AAA0-82E90CFCD38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9D4AB501-B5DD-4B37-A024-15CD0C7ABC42}" type="datetime1">
              <a:rPr lang="en-US" smtClean="0">
                <a:latin typeface="+mj-lt"/>
              </a:rPr>
              <a:t>3/14/2026</a:t>
            </a:fld>
            <a:endParaRPr dirty="0">
              <a:latin typeface="+mj-lt"/>
            </a:endParaRPr>
          </a:p>
        </p:txBody>
      </p:sp>
      <p:sp>
        <p:nvSpPr>
          <p:cNvPr id="122" name="Google Shape;122;p4">
            <a:extLst>
              <a:ext uri="{FF2B5EF4-FFF2-40B4-BE49-F238E27FC236}">
                <a16:creationId xmlns:a16="http://schemas.microsoft.com/office/drawing/2014/main" id="{4D8D9F01-0946-461C-D618-8313F0E13A2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latin typeface="+mj-lt"/>
              </a:rPr>
              <a:t>5</a:t>
            </a:fld>
            <a:endParaRPr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672676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FFA33975-FE91-9E54-3DC6-93B7DE8C3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">
            <a:extLst>
              <a:ext uri="{FF2B5EF4-FFF2-40B4-BE49-F238E27FC236}">
                <a16:creationId xmlns:a16="http://schemas.microsoft.com/office/drawing/2014/main" id="{9F3ED79D-79D8-606B-18ED-C0FAD95EFBD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2286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buSzPts val="4000"/>
            </a:pPr>
            <a:r>
              <a:rPr lang="en-US" sz="4000" b="1" dirty="0">
                <a:latin typeface="+mj-lt"/>
                <a:ea typeface="Arial"/>
                <a:cs typeface="Arial"/>
                <a:sym typeface="Arial"/>
              </a:rPr>
              <a:t>Dataset Description &amp; Data Cleaning</a:t>
            </a:r>
            <a:endParaRPr dirty="0">
              <a:latin typeface="+mj-lt"/>
            </a:endParaRPr>
          </a:p>
        </p:txBody>
      </p:sp>
      <p:sp>
        <p:nvSpPr>
          <p:cNvPr id="120" name="Google Shape;120;p4">
            <a:extLst>
              <a:ext uri="{FF2B5EF4-FFF2-40B4-BE49-F238E27FC236}">
                <a16:creationId xmlns:a16="http://schemas.microsoft.com/office/drawing/2014/main" id="{38557593-0DB3-74FD-210F-396428299B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1600200"/>
            <a:ext cx="100584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just">
              <a:spcBef>
                <a:spcPts val="0"/>
              </a:spcBef>
              <a:buSzPts val="2800"/>
            </a:pPr>
            <a:r>
              <a:rPr lang="en-US" sz="2200" dirty="0">
                <a:latin typeface="+mj-lt"/>
                <a:cs typeface="Arial"/>
                <a:sym typeface="Arial"/>
              </a:rPr>
              <a:t>UCI Heart Disease Dataset - </a:t>
            </a:r>
            <a:r>
              <a:rPr lang="en-US" sz="2200" b="1" dirty="0">
                <a:latin typeface="+mj-lt"/>
                <a:cs typeface="Arial"/>
                <a:sym typeface="Arial"/>
              </a:rPr>
              <a:t>302 × 14</a:t>
            </a:r>
          </a:p>
          <a:p>
            <a:pPr marL="228600" lvl="0" indent="-228600" algn="just">
              <a:spcBef>
                <a:spcPts val="0"/>
              </a:spcBef>
              <a:buSzPts val="2800"/>
            </a:pPr>
            <a:endParaRPr lang="en-US" b="1" dirty="0"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4">
            <a:extLst>
              <a:ext uri="{FF2B5EF4-FFF2-40B4-BE49-F238E27FC236}">
                <a16:creationId xmlns:a16="http://schemas.microsoft.com/office/drawing/2014/main" id="{25DB13D4-646C-4D38-7B32-8F3D57611AB4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D785D048-971E-423F-B8B7-FDBAC031D7CE}" type="datetime1">
              <a:rPr lang="en-US" smtClean="0">
                <a:latin typeface="+mj-lt"/>
              </a:rPr>
              <a:t>3/14/2026</a:t>
            </a:fld>
            <a:endParaRPr dirty="0">
              <a:latin typeface="+mj-lt"/>
            </a:endParaRPr>
          </a:p>
        </p:txBody>
      </p:sp>
      <p:sp>
        <p:nvSpPr>
          <p:cNvPr id="122" name="Google Shape;122;p4">
            <a:extLst>
              <a:ext uri="{FF2B5EF4-FFF2-40B4-BE49-F238E27FC236}">
                <a16:creationId xmlns:a16="http://schemas.microsoft.com/office/drawing/2014/main" id="{71F092E3-2C2E-31E8-A0D3-CDD77052799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latin typeface="+mj-lt"/>
              </a:rPr>
              <a:t>6</a:t>
            </a:fld>
            <a:endParaRPr dirty="0">
              <a:latin typeface="+mj-lt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235FDA0-1FCD-6C95-A93F-A2BE5CE1C1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0226325"/>
              </p:ext>
            </p:extLst>
          </p:nvPr>
        </p:nvGraphicFramePr>
        <p:xfrm>
          <a:off x="1219200" y="1956480"/>
          <a:ext cx="8128000" cy="3063240"/>
        </p:xfrm>
        <a:graphic>
          <a:graphicData uri="http://schemas.openxmlformats.org/drawingml/2006/table">
            <a:tbl>
              <a:tblPr firstRow="1" bandRow="1">
                <a:tableStyleId>{BCBE445B-8C63-4D76-8A18-73BCDD31B99A}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9009670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92596437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89109632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1040800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 dirty="0">
                          <a:latin typeface="+mn-lt"/>
                        </a:rPr>
                        <a:t>Feature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 dirty="0">
                          <a:latin typeface="+mn-lt"/>
                        </a:rPr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 dirty="0">
                          <a:latin typeface="+mn-lt"/>
                        </a:rPr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 dirty="0">
                          <a:latin typeface="+mn-lt"/>
                        </a:rPr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00532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dirty="0">
                          <a:latin typeface="+mn-lt"/>
                        </a:rPr>
                        <a:t>age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dirty="0">
                          <a:latin typeface="+mn-lt"/>
                        </a:rPr>
                        <a:t>Continuous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>
                          <a:latin typeface="+mn-lt"/>
                        </a:rPr>
                        <a:t>exang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>
                          <a:latin typeface="+mn-lt"/>
                        </a:rPr>
                        <a:t>Binary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6944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dirty="0">
                          <a:latin typeface="+mn-lt"/>
                        </a:rPr>
                        <a:t>sex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>
                          <a:latin typeface="+mn-lt"/>
                        </a:rPr>
                        <a:t>Binary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>
                          <a:latin typeface="+mn-lt"/>
                        </a:rPr>
                        <a:t>oldpeak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>
                          <a:latin typeface="+mn-lt"/>
                        </a:rPr>
                        <a:t>Continuous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51771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>
                          <a:latin typeface="+mn-lt"/>
                        </a:rPr>
                        <a:t>cp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>
                          <a:latin typeface="+mn-lt"/>
                        </a:rPr>
                        <a:t>Categorical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>
                          <a:latin typeface="+mn-lt"/>
                        </a:rPr>
                        <a:t>slope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>
                          <a:latin typeface="+mn-lt"/>
                        </a:rPr>
                        <a:t>Categorical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64224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>
                          <a:latin typeface="+mn-lt"/>
                        </a:rPr>
                        <a:t>trestbps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>
                          <a:latin typeface="+mn-lt"/>
                        </a:rPr>
                        <a:t>Continuous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>
                          <a:latin typeface="+mn-lt"/>
                        </a:rPr>
                        <a:t>ca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>
                          <a:latin typeface="+mn-lt"/>
                        </a:rPr>
                        <a:t>Ordinal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17527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>
                          <a:latin typeface="+mn-lt"/>
                        </a:rPr>
                        <a:t>chol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>
                          <a:latin typeface="+mn-lt"/>
                        </a:rPr>
                        <a:t>Continuous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>
                          <a:latin typeface="+mn-lt"/>
                        </a:rPr>
                        <a:t>thal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>
                          <a:latin typeface="+mn-lt"/>
                        </a:rPr>
                        <a:t>Categorical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68872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>
                          <a:latin typeface="+mn-lt"/>
                        </a:rPr>
                        <a:t>fbs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>
                          <a:latin typeface="+mn-lt"/>
                        </a:rPr>
                        <a:t>Binary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latin typeface="+mn-lt"/>
                        </a:rPr>
                        <a:t>target</a:t>
                      </a:r>
                      <a:endParaRPr lang="en-US" sz="1900" b="1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latin typeface="+mn-lt"/>
                        </a:rPr>
                        <a:t>Binary</a:t>
                      </a:r>
                      <a:endParaRPr lang="en-US" sz="1900" b="1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90601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>
                          <a:latin typeface="+mn-lt"/>
                        </a:rPr>
                        <a:t>restecg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>
                          <a:latin typeface="+mn-lt"/>
                        </a:rPr>
                        <a:t>Categorical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>
                          <a:latin typeface="+mn-lt"/>
                        </a:rPr>
                        <a:t>thalach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dirty="0">
                          <a:latin typeface="+mn-lt"/>
                        </a:rPr>
                        <a:t>Continuous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5960066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1FB0C477-4862-04FA-6DE1-A42CC314E9E5}"/>
              </a:ext>
            </a:extLst>
          </p:cNvPr>
          <p:cNvSpPr txBox="1"/>
          <p:nvPr/>
        </p:nvSpPr>
        <p:spPr>
          <a:xfrm>
            <a:off x="914400" y="5072720"/>
            <a:ext cx="100584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No </a:t>
            </a:r>
            <a:r>
              <a:rPr lang="en-US" sz="2200" b="1" dirty="0" err="1"/>
              <a:t>NaN</a:t>
            </a:r>
            <a:r>
              <a:rPr lang="en-US" sz="2200" dirty="0"/>
              <a:t> values, no </a:t>
            </a:r>
            <a:r>
              <a:rPr lang="en-US" sz="2200" b="1" dirty="0"/>
              <a:t>duplicates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Cleaning</a:t>
            </a:r>
            <a:r>
              <a:rPr lang="en-US" sz="2200" dirty="0"/>
              <a:t>: </a:t>
            </a:r>
            <a:r>
              <a:rPr lang="en-US" sz="2200" dirty="0" err="1"/>
              <a:t>thal</a:t>
            </a:r>
            <a:r>
              <a:rPr lang="en-US" sz="2200" dirty="0"/>
              <a:t>=0 (2 rows) and ca=4 (4 rows) - invalid, replaced with median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Final</a:t>
            </a:r>
            <a:r>
              <a:rPr lang="en-US" sz="2200" dirty="0"/>
              <a:t>: 302 samples ready</a:t>
            </a:r>
          </a:p>
        </p:txBody>
      </p:sp>
    </p:spTree>
    <p:extLst>
      <p:ext uri="{BB962C8B-B14F-4D97-AF65-F5344CB8AC3E}">
        <p14:creationId xmlns:p14="http://schemas.microsoft.com/office/powerpoint/2010/main" val="42501878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9D287B4E-6263-468F-9A71-A4DE858FC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">
            <a:extLst>
              <a:ext uri="{FF2B5EF4-FFF2-40B4-BE49-F238E27FC236}">
                <a16:creationId xmlns:a16="http://schemas.microsoft.com/office/drawing/2014/main" id="{CFAE1423-F3B8-1C2D-8904-50B56D1FCB7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2286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buSzPts val="4000"/>
            </a:pPr>
            <a:r>
              <a:rPr lang="en-US" sz="4000" b="1" dirty="0">
                <a:latin typeface="+mj-lt"/>
                <a:ea typeface="Arial"/>
                <a:cs typeface="Arial"/>
                <a:sym typeface="Arial"/>
              </a:rPr>
              <a:t>Exploratory Data Analysis</a:t>
            </a:r>
            <a:endParaRPr dirty="0">
              <a:latin typeface="+mj-lt"/>
            </a:endParaRPr>
          </a:p>
        </p:txBody>
      </p:sp>
      <p:sp>
        <p:nvSpPr>
          <p:cNvPr id="120" name="Google Shape;120;p4">
            <a:extLst>
              <a:ext uri="{FF2B5EF4-FFF2-40B4-BE49-F238E27FC236}">
                <a16:creationId xmlns:a16="http://schemas.microsoft.com/office/drawing/2014/main" id="{2BC1040A-DC44-4C47-10AB-DAE5D7CC9C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52578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just">
              <a:spcBef>
                <a:spcPts val="0"/>
              </a:spcBef>
              <a:buSzPts val="2800"/>
            </a:pPr>
            <a:r>
              <a:rPr lang="en-US" sz="2200" b="1" dirty="0">
                <a:latin typeface="+mj-lt"/>
                <a:cs typeface="Arial"/>
                <a:sym typeface="Arial"/>
              </a:rPr>
              <a:t>Target</a:t>
            </a:r>
            <a:r>
              <a:rPr lang="en-US" sz="2200" dirty="0">
                <a:latin typeface="+mj-lt"/>
                <a:cs typeface="Arial"/>
                <a:sym typeface="Arial"/>
              </a:rPr>
              <a:t>: 164 disease (</a:t>
            </a:r>
            <a:r>
              <a:rPr lang="en-US" sz="2200" b="1" dirty="0">
                <a:latin typeface="+mj-lt"/>
                <a:cs typeface="Arial"/>
                <a:sym typeface="Arial"/>
              </a:rPr>
              <a:t>54%</a:t>
            </a:r>
            <a:r>
              <a:rPr lang="en-US" sz="2200" dirty="0">
                <a:latin typeface="+mj-lt"/>
                <a:cs typeface="Arial"/>
                <a:sym typeface="Arial"/>
              </a:rPr>
              <a:t>) / 138 healthy (</a:t>
            </a:r>
            <a:r>
              <a:rPr lang="en-US" sz="2200" b="1" dirty="0">
                <a:latin typeface="+mj-lt"/>
                <a:cs typeface="Arial"/>
                <a:sym typeface="Arial"/>
              </a:rPr>
              <a:t>46%</a:t>
            </a:r>
            <a:r>
              <a:rPr lang="en-US" sz="2200" dirty="0">
                <a:latin typeface="+mj-lt"/>
                <a:cs typeface="Arial"/>
                <a:sym typeface="Arial"/>
              </a:rPr>
              <a:t>) – balanced</a:t>
            </a:r>
          </a:p>
          <a:p>
            <a:pPr marL="228600" lvl="0" indent="-228600" algn="just">
              <a:spcBef>
                <a:spcPts val="0"/>
              </a:spcBef>
              <a:buSzPts val="2800"/>
            </a:pPr>
            <a:r>
              <a:rPr lang="en-US" sz="2200" b="1" dirty="0">
                <a:latin typeface="+mj-lt"/>
                <a:cs typeface="Arial"/>
                <a:sym typeface="Arial"/>
              </a:rPr>
              <a:t>Top correlations</a:t>
            </a:r>
            <a:r>
              <a:rPr lang="en-US" sz="2200" dirty="0">
                <a:latin typeface="+mj-lt"/>
                <a:cs typeface="Arial"/>
                <a:sym typeface="Arial"/>
              </a:rPr>
              <a:t>: cp (+0.4), </a:t>
            </a:r>
            <a:r>
              <a:rPr lang="en-US" sz="2200" dirty="0" err="1">
                <a:latin typeface="+mj-lt"/>
                <a:cs typeface="Arial"/>
                <a:sym typeface="Arial"/>
              </a:rPr>
              <a:t>thalach</a:t>
            </a:r>
            <a:r>
              <a:rPr lang="en-US" sz="2200" dirty="0">
                <a:latin typeface="+mj-lt"/>
                <a:cs typeface="Arial"/>
                <a:sym typeface="Arial"/>
              </a:rPr>
              <a:t> (+0.4), ca (−0.4), </a:t>
            </a:r>
            <a:r>
              <a:rPr lang="en-US" sz="2200" dirty="0" err="1">
                <a:latin typeface="+mj-lt"/>
                <a:cs typeface="Arial"/>
                <a:sym typeface="Arial"/>
              </a:rPr>
              <a:t>exang</a:t>
            </a:r>
            <a:r>
              <a:rPr lang="en-US" sz="2200" dirty="0">
                <a:latin typeface="+mj-lt"/>
                <a:cs typeface="Arial"/>
                <a:sym typeface="Arial"/>
              </a:rPr>
              <a:t> (−0.4)</a:t>
            </a:r>
            <a:endParaRPr sz="2200" dirty="0"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4">
            <a:extLst>
              <a:ext uri="{FF2B5EF4-FFF2-40B4-BE49-F238E27FC236}">
                <a16:creationId xmlns:a16="http://schemas.microsoft.com/office/drawing/2014/main" id="{CF0E9501-E974-CB00-7952-4F8725B69498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D785D048-971E-423F-B8B7-FDBAC031D7CE}" type="datetime1">
              <a:rPr lang="en-US" smtClean="0">
                <a:latin typeface="+mj-lt"/>
              </a:rPr>
              <a:t>3/14/2026</a:t>
            </a:fld>
            <a:endParaRPr dirty="0">
              <a:latin typeface="+mj-lt"/>
            </a:endParaRPr>
          </a:p>
        </p:txBody>
      </p:sp>
      <p:sp>
        <p:nvSpPr>
          <p:cNvPr id="122" name="Google Shape;122;p4">
            <a:extLst>
              <a:ext uri="{FF2B5EF4-FFF2-40B4-BE49-F238E27FC236}">
                <a16:creationId xmlns:a16="http://schemas.microsoft.com/office/drawing/2014/main" id="{3E638C42-8107-9BB6-0BF8-50083AB6F3A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latin typeface="+mj-lt"/>
              </a:rPr>
              <a:t>7</a:t>
            </a:fld>
            <a:endParaRPr dirty="0">
              <a:latin typeface="+mj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C85D5F8-5003-CD89-5FF8-75FCEE7286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143000"/>
            <a:ext cx="4641088" cy="3657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090AB50-2D76-624F-B6B0-A83A7AB5A8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447" y="1143000"/>
            <a:ext cx="4648305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4232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B9E9774-D7B4-BE6B-9DFA-F46872C1F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">
            <a:extLst>
              <a:ext uri="{FF2B5EF4-FFF2-40B4-BE49-F238E27FC236}">
                <a16:creationId xmlns:a16="http://schemas.microsoft.com/office/drawing/2014/main" id="{62D31630-0545-1348-4CCD-4D81D6CB49B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2286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buSzPts val="4000"/>
            </a:pPr>
            <a:r>
              <a:rPr lang="en-US" sz="4000" b="1" dirty="0">
                <a:latin typeface="+mj-lt"/>
                <a:ea typeface="Arial"/>
                <a:cs typeface="Arial"/>
                <a:sym typeface="Arial"/>
              </a:rPr>
              <a:t>Feature Engineering &amp; Preprocessing</a:t>
            </a:r>
            <a:endParaRPr dirty="0">
              <a:latin typeface="+mj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0" name="Google Shape;120;p4">
                <a:extLst>
                  <a:ext uri="{FF2B5EF4-FFF2-40B4-BE49-F238E27FC236}">
                    <a16:creationId xmlns:a16="http://schemas.microsoft.com/office/drawing/2014/main" id="{E61D0FB9-BD4B-B19D-7F44-D90016EC9188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914400" y="1600200"/>
                <a:ext cx="10058400" cy="457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228600" lvl="0" indent="-228600" algn="just">
                  <a:lnSpc>
                    <a:spcPct val="100000"/>
                  </a:lnSpc>
                  <a:spcBef>
                    <a:spcPts val="0"/>
                  </a:spcBef>
                  <a:buSzPts val="2800"/>
                </a:pPr>
                <a:r>
                  <a:rPr lang="en-US" sz="2400" b="1" dirty="0">
                    <a:latin typeface="+mj-lt"/>
                    <a:cs typeface="Arial"/>
                    <a:sym typeface="Arial"/>
                  </a:rPr>
                  <a:t>X</a:t>
                </a:r>
                <a:r>
                  <a:rPr lang="en-US" sz="2400" dirty="0">
                    <a:latin typeface="+mj-lt"/>
                    <a:cs typeface="Arial"/>
                    <a:sym typeface="Arial"/>
                  </a:rPr>
                  <a:t> (</a:t>
                </a:r>
                <a:r>
                  <a:rPr lang="en-US" sz="2400" b="1" dirty="0">
                    <a:latin typeface="+mj-lt"/>
                    <a:cs typeface="Arial"/>
                    <a:sym typeface="Arial"/>
                  </a:rPr>
                  <a:t>features</a:t>
                </a:r>
                <a:r>
                  <a:rPr lang="en-US" sz="2400" dirty="0">
                    <a:latin typeface="+mj-lt"/>
                    <a:cs typeface="Arial"/>
                    <a:sym typeface="Arial"/>
                  </a:rPr>
                  <a:t>/input var) &amp; </a:t>
                </a:r>
                <a:r>
                  <a:rPr lang="en-US" sz="2400" b="1" dirty="0">
                    <a:latin typeface="+mj-lt"/>
                    <a:cs typeface="Arial"/>
                    <a:sym typeface="Arial"/>
                  </a:rPr>
                  <a:t>y</a:t>
                </a:r>
                <a:r>
                  <a:rPr lang="en-US" sz="2400" dirty="0">
                    <a:latin typeface="+mj-lt"/>
                    <a:cs typeface="Arial"/>
                    <a:sym typeface="Arial"/>
                  </a:rPr>
                  <a:t> (</a:t>
                </a:r>
                <a:r>
                  <a:rPr lang="en-US" sz="2400" b="1" dirty="0">
                    <a:latin typeface="+mj-lt"/>
                    <a:cs typeface="Arial"/>
                    <a:sym typeface="Arial"/>
                  </a:rPr>
                  <a:t>target</a:t>
                </a:r>
                <a:r>
                  <a:rPr lang="en-US" sz="2400" dirty="0">
                    <a:latin typeface="+mj-lt"/>
                    <a:cs typeface="Arial"/>
                    <a:sym typeface="Arial"/>
                  </a:rPr>
                  <a:t>/output var) &gt;&gt; </a:t>
                </a:r>
                <a:r>
                  <a:rPr lang="en-US" sz="2400" b="1" dirty="0">
                    <a:latin typeface="+mj-lt"/>
                    <a:cs typeface="Arial"/>
                    <a:sym typeface="Arial"/>
                  </a:rPr>
                  <a:t>predict y from X</a:t>
                </a:r>
                <a:r>
                  <a:rPr lang="en-US" sz="2400" dirty="0">
                    <a:latin typeface="+mj-lt"/>
                    <a:cs typeface="Arial"/>
                    <a:sym typeface="Arial"/>
                  </a:rPr>
                  <a:t>.</a:t>
                </a:r>
              </a:p>
              <a:p>
                <a:pPr marL="0" lvl="0" indent="0" algn="just">
                  <a:lnSpc>
                    <a:spcPct val="100000"/>
                  </a:lnSpc>
                  <a:spcBef>
                    <a:spcPts val="0"/>
                  </a:spcBef>
                  <a:buSzPts val="2800"/>
                  <a:buNone/>
                </a:pPr>
                <a:endParaRPr lang="en-US" sz="2400" dirty="0">
                  <a:latin typeface="+mj-lt"/>
                  <a:cs typeface="Arial"/>
                  <a:sym typeface="Arial"/>
                </a:endParaRPr>
              </a:p>
              <a:p>
                <a:pPr marL="228600" lvl="0" indent="-228600" algn="just">
                  <a:lnSpc>
                    <a:spcPct val="100000"/>
                  </a:lnSpc>
                  <a:spcBef>
                    <a:spcPts val="0"/>
                  </a:spcBef>
                  <a:buSzPts val="2800"/>
                </a:pPr>
                <a:r>
                  <a:rPr lang="en-US" sz="2400" b="1" dirty="0">
                    <a:latin typeface="+mj-lt"/>
                    <a:cs typeface="Arial"/>
                    <a:sym typeface="Arial"/>
                  </a:rPr>
                  <a:t>Train</a:t>
                </a:r>
                <a:r>
                  <a:rPr lang="en-US" sz="2400" dirty="0">
                    <a:latin typeface="+mj-lt"/>
                    <a:cs typeface="Arial"/>
                    <a:sym typeface="Arial"/>
                  </a:rPr>
                  <a:t>: </a:t>
                </a:r>
                <a:r>
                  <a:rPr lang="en-US" sz="2400" b="1" dirty="0">
                    <a:latin typeface="+mj-lt"/>
                    <a:cs typeface="Arial"/>
                    <a:sym typeface="Arial"/>
                  </a:rPr>
                  <a:t>241</a:t>
                </a:r>
                <a:r>
                  <a:rPr lang="en-US" sz="2400" dirty="0">
                    <a:latin typeface="+mj-lt"/>
                    <a:cs typeface="Arial"/>
                    <a:sym typeface="Arial"/>
                  </a:rPr>
                  <a:t> (80%) | </a:t>
                </a:r>
                <a:r>
                  <a:rPr lang="en-US" sz="2400" b="1" dirty="0">
                    <a:latin typeface="+mj-lt"/>
                    <a:cs typeface="Arial"/>
                    <a:sym typeface="Arial"/>
                  </a:rPr>
                  <a:t>Test</a:t>
                </a:r>
                <a:r>
                  <a:rPr lang="en-US" sz="2400" dirty="0">
                    <a:latin typeface="+mj-lt"/>
                    <a:cs typeface="Arial"/>
                    <a:sym typeface="Arial"/>
                  </a:rPr>
                  <a:t>: </a:t>
                </a:r>
                <a:r>
                  <a:rPr lang="en-US" sz="2400" b="1" dirty="0">
                    <a:latin typeface="+mj-lt"/>
                    <a:cs typeface="Arial"/>
                    <a:sym typeface="Arial"/>
                  </a:rPr>
                  <a:t>61</a:t>
                </a:r>
                <a:r>
                  <a:rPr lang="en-US" sz="2400" dirty="0">
                    <a:latin typeface="+mj-lt"/>
                    <a:cs typeface="Arial"/>
                    <a:sym typeface="Arial"/>
                  </a:rPr>
                  <a:t> (20%) - </a:t>
                </a:r>
                <a:r>
                  <a:rPr lang="en-US" sz="2400" b="1" dirty="0">
                    <a:latin typeface="+mj-lt"/>
                    <a:cs typeface="Arial"/>
                    <a:sym typeface="Arial"/>
                  </a:rPr>
                  <a:t>stratified</a:t>
                </a:r>
                <a:r>
                  <a:rPr lang="en-US" sz="2400" dirty="0">
                    <a:latin typeface="+mj-lt"/>
                    <a:cs typeface="Arial"/>
                    <a:sym typeface="Arial"/>
                  </a:rPr>
                  <a:t> split &gt;&gt; same disease ratio in both sets (unbiased)</a:t>
                </a:r>
                <a:endParaRPr lang="en-US" sz="2200" dirty="0">
                  <a:latin typeface="+mj-lt"/>
                  <a:cs typeface="Arial"/>
                  <a:sym typeface="Arial"/>
                </a:endParaRPr>
              </a:p>
              <a:p>
                <a:pPr marL="228600" lvl="0" indent="-228600" algn="just">
                  <a:lnSpc>
                    <a:spcPct val="200000"/>
                  </a:lnSpc>
                  <a:spcBef>
                    <a:spcPts val="0"/>
                  </a:spcBef>
                  <a:buSzPts val="2800"/>
                </a:pPr>
                <a:r>
                  <a:rPr lang="en-US" sz="2500" b="1" dirty="0" err="1">
                    <a:latin typeface="+mj-lt"/>
                    <a:cs typeface="Arial"/>
                    <a:sym typeface="Arial"/>
                  </a:rPr>
                  <a:t>StandardScaler</a:t>
                </a:r>
                <a:r>
                  <a:rPr lang="en-US" sz="2500" dirty="0">
                    <a:latin typeface="+mj-lt"/>
                    <a:cs typeface="Arial"/>
                    <a:sym typeface="Arial"/>
                  </a:rPr>
                  <a:t>:​ </a:t>
                </a:r>
                <a14:m>
                  <m:oMath xmlns:m="http://schemas.openxmlformats.org/officeDocument/2006/math">
                    <m:r>
                      <a:rPr lang="en-US" sz="2500" i="1" smtClean="0">
                        <a:latin typeface="Cambria Math" panose="02040503050406030204" pitchFamily="18" charset="0"/>
                        <a:cs typeface="Arial"/>
                        <a:sym typeface="Arial"/>
                      </a:rPr>
                      <m:t>​</m:t>
                    </m:r>
                    <m:r>
                      <a:rPr lang="en-US" sz="2500" i="1" smtClean="0">
                        <a:latin typeface="Cambria Math" panose="02040503050406030204" pitchFamily="18" charset="0"/>
                        <a:cs typeface="Arial"/>
                        <a:sym typeface="Arial"/>
                      </a:rPr>
                      <m:t>𝑧</m:t>
                    </m:r>
                    <m:r>
                      <a:rPr lang="en-US" sz="2500" i="1" smtClean="0">
                        <a:latin typeface="Cambria Math" panose="02040503050406030204" pitchFamily="18" charset="0"/>
                        <a:cs typeface="Arial"/>
                        <a:sym typeface="Arial"/>
                      </a:rPr>
                      <m:t>=</m:t>
                    </m:r>
                    <m:f>
                      <m:fPr>
                        <m:ctrlPr>
                          <a:rPr lang="en-US" sz="2500" i="1"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</m:ctrlPr>
                      </m:fPr>
                      <m:num>
                        <m:r>
                          <a:rPr lang="en-US" sz="2500" i="1"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  <m:t>𝑥</m:t>
                        </m:r>
                        <m:r>
                          <a:rPr lang="en-US" sz="2500" i="1"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  <m:t>−</m:t>
                        </m:r>
                        <m:r>
                          <a:rPr lang="en-US" sz="2500" i="1"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  <m:t>𝜇</m:t>
                        </m:r>
                      </m:num>
                      <m:den>
                        <m:r>
                          <a:rPr lang="en-US" sz="2500" i="1"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  <m:t>𝜎</m:t>
                        </m:r>
                      </m:den>
                    </m:f>
                  </m:oMath>
                </a14:m>
                <a:endParaRPr lang="en-US" sz="2500" dirty="0">
                  <a:latin typeface="+mj-lt"/>
                  <a:cs typeface="Arial"/>
                  <a:sym typeface="Arial"/>
                </a:endParaRPr>
              </a:p>
              <a:p>
                <a:pPr marL="228600" lvl="0" indent="-228600" algn="just">
                  <a:lnSpc>
                    <a:spcPct val="100000"/>
                  </a:lnSpc>
                  <a:spcBef>
                    <a:spcPts val="0"/>
                  </a:spcBef>
                  <a:buSzPts val="2800"/>
                </a:pPr>
                <a:r>
                  <a:rPr lang="en-US" sz="2200" dirty="0">
                    <a:latin typeface="+mj-lt"/>
                    <a:ea typeface="Arial"/>
                    <a:cs typeface="Arial"/>
                    <a:sym typeface="Arial"/>
                  </a:rPr>
                  <a:t>Fit (learn stats) on training data only; transform (scale) test data with same parameters to prevent data leakage.</a:t>
                </a:r>
              </a:p>
              <a:p>
                <a:pPr marL="228600" lvl="0" indent="-228600" algn="just">
                  <a:lnSpc>
                    <a:spcPct val="100000"/>
                  </a:lnSpc>
                  <a:spcBef>
                    <a:spcPts val="0"/>
                  </a:spcBef>
                  <a:buSzPts val="2800"/>
                </a:pPr>
                <a:endParaRPr lang="en-US" sz="2200" dirty="0">
                  <a:latin typeface="+mj-lt"/>
                  <a:ea typeface="Arial"/>
                  <a:cs typeface="Arial"/>
                  <a:sym typeface="Arial"/>
                </a:endParaRPr>
              </a:p>
              <a:p>
                <a:pPr marL="228600" lvl="0" indent="-228600" algn="just">
                  <a:lnSpc>
                    <a:spcPct val="100000"/>
                  </a:lnSpc>
                  <a:spcBef>
                    <a:spcPts val="0"/>
                  </a:spcBef>
                  <a:buSzPts val="2800"/>
                </a:pPr>
                <a:r>
                  <a:rPr lang="en-US" sz="2200" dirty="0">
                    <a:latin typeface="+mj-lt"/>
                    <a:ea typeface="Arial"/>
                    <a:cs typeface="Arial"/>
                    <a:sym typeface="Arial"/>
                  </a:rPr>
                  <a:t>Needed because </a:t>
                </a:r>
                <a:r>
                  <a:rPr lang="en-US" sz="2200" b="1" dirty="0" err="1">
                    <a:latin typeface="+mj-lt"/>
                    <a:ea typeface="Arial"/>
                    <a:cs typeface="Arial"/>
                    <a:sym typeface="Arial"/>
                  </a:rPr>
                  <a:t>chol</a:t>
                </a:r>
                <a:r>
                  <a:rPr lang="en-US" sz="2200" dirty="0">
                    <a:latin typeface="+mj-lt"/>
                    <a:ea typeface="Arial"/>
                    <a:cs typeface="Arial"/>
                    <a:sym typeface="Arial"/>
                  </a:rPr>
                  <a:t> is in </a:t>
                </a:r>
                <a:r>
                  <a:rPr lang="en-US" sz="2200" b="1" dirty="0">
                    <a:latin typeface="+mj-lt"/>
                    <a:ea typeface="Arial"/>
                    <a:cs typeface="Arial"/>
                    <a:sym typeface="Arial"/>
                  </a:rPr>
                  <a:t>hundreds</a:t>
                </a:r>
                <a:r>
                  <a:rPr lang="en-US" sz="2200" dirty="0">
                    <a:latin typeface="+mj-lt"/>
                    <a:ea typeface="Arial"/>
                    <a:cs typeface="Arial"/>
                    <a:sym typeface="Arial"/>
                  </a:rPr>
                  <a:t>, </a:t>
                </a:r>
                <a:r>
                  <a:rPr lang="en-US" sz="2200" b="1" dirty="0">
                    <a:latin typeface="+mj-lt"/>
                    <a:ea typeface="Arial"/>
                    <a:cs typeface="Arial"/>
                    <a:sym typeface="Arial"/>
                  </a:rPr>
                  <a:t>sex</a:t>
                </a:r>
                <a:r>
                  <a:rPr lang="en-US" sz="2200" dirty="0">
                    <a:latin typeface="+mj-lt"/>
                    <a:ea typeface="Arial"/>
                    <a:cs typeface="Arial"/>
                    <a:sym typeface="Arial"/>
                  </a:rPr>
                  <a:t> is </a:t>
                </a:r>
                <a:r>
                  <a:rPr lang="en-US" sz="2200" b="1" dirty="0">
                    <a:latin typeface="+mj-lt"/>
                    <a:ea typeface="Arial"/>
                    <a:cs typeface="Arial"/>
                    <a:sym typeface="Arial"/>
                  </a:rPr>
                  <a:t>0/1</a:t>
                </a:r>
                <a:r>
                  <a:rPr lang="en-US" sz="2200" dirty="0">
                    <a:latin typeface="+mj-lt"/>
                    <a:ea typeface="Arial"/>
                    <a:cs typeface="Arial"/>
                    <a:sym typeface="Arial"/>
                  </a:rPr>
                  <a:t> -&gt; without scaling, large features </a:t>
                </a:r>
                <a:r>
                  <a:rPr lang="en-US" sz="2200" b="1" dirty="0">
                    <a:latin typeface="+mj-lt"/>
                    <a:ea typeface="Arial"/>
                    <a:cs typeface="Arial"/>
                    <a:sym typeface="Arial"/>
                  </a:rPr>
                  <a:t>dominate</a:t>
                </a:r>
                <a:endParaRPr sz="2200" b="1" dirty="0">
                  <a:latin typeface="+mj-lt"/>
                  <a:ea typeface="Arial"/>
                  <a:cs typeface="Arial"/>
                  <a:sym typeface="Arial"/>
                </a:endParaRPr>
              </a:p>
            </p:txBody>
          </p:sp>
        </mc:Choice>
        <mc:Fallback>
          <p:sp>
            <p:nvSpPr>
              <p:cNvPr id="120" name="Google Shape;120;p4">
                <a:extLst>
                  <a:ext uri="{FF2B5EF4-FFF2-40B4-BE49-F238E27FC236}">
                    <a16:creationId xmlns:a16="http://schemas.microsoft.com/office/drawing/2014/main" id="{E61D0FB9-BD4B-B19D-7F44-D90016EC9188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914400" y="1600200"/>
                <a:ext cx="10058400" cy="4572000"/>
              </a:xfrm>
              <a:prstGeom prst="rect">
                <a:avLst/>
              </a:prstGeom>
              <a:blipFill>
                <a:blip r:embed="rId3"/>
                <a:stretch>
                  <a:fillRect l="-1091" t="-1867" r="-90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1" name="Google Shape;121;p4">
            <a:extLst>
              <a:ext uri="{FF2B5EF4-FFF2-40B4-BE49-F238E27FC236}">
                <a16:creationId xmlns:a16="http://schemas.microsoft.com/office/drawing/2014/main" id="{119EA564-2110-9264-50BC-1217B450B2B0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D785D048-971E-423F-B8B7-FDBAC031D7CE}" type="datetime1">
              <a:rPr lang="en-US" smtClean="0">
                <a:latin typeface="+mj-lt"/>
              </a:rPr>
              <a:t>3/14/2026</a:t>
            </a:fld>
            <a:endParaRPr dirty="0">
              <a:latin typeface="+mj-lt"/>
            </a:endParaRPr>
          </a:p>
        </p:txBody>
      </p:sp>
      <p:sp>
        <p:nvSpPr>
          <p:cNvPr id="122" name="Google Shape;122;p4">
            <a:extLst>
              <a:ext uri="{FF2B5EF4-FFF2-40B4-BE49-F238E27FC236}">
                <a16:creationId xmlns:a16="http://schemas.microsoft.com/office/drawing/2014/main" id="{287BE042-87FC-B0BB-4DD7-54DF40E6A74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latin typeface="+mj-lt"/>
              </a:rPr>
              <a:t>8</a:t>
            </a:fld>
            <a:endParaRPr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9275898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0985B7B6-B9E9-9C80-DAC2-87D0D4914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">
            <a:extLst>
              <a:ext uri="{FF2B5EF4-FFF2-40B4-BE49-F238E27FC236}">
                <a16:creationId xmlns:a16="http://schemas.microsoft.com/office/drawing/2014/main" id="{44DD79F9-8105-3D99-016E-B52420277B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2286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buSzPts val="4000"/>
            </a:pPr>
            <a:r>
              <a:rPr lang="en-US" sz="4000" b="1" dirty="0">
                <a:latin typeface="+mj-lt"/>
                <a:ea typeface="Arial"/>
                <a:cs typeface="Arial"/>
                <a:sym typeface="Arial"/>
              </a:rPr>
              <a:t>Model Development [LR] [1]</a:t>
            </a:r>
            <a:endParaRPr dirty="0">
              <a:latin typeface="+mj-lt"/>
            </a:endParaRPr>
          </a:p>
        </p:txBody>
      </p:sp>
      <p:sp>
        <p:nvSpPr>
          <p:cNvPr id="120" name="Google Shape;120;p4">
            <a:extLst>
              <a:ext uri="{FF2B5EF4-FFF2-40B4-BE49-F238E27FC236}">
                <a16:creationId xmlns:a16="http://schemas.microsoft.com/office/drawing/2014/main" id="{4550F2A4-F6B6-B6F5-E597-753F4629E4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1600200"/>
            <a:ext cx="100584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2200" b="1" dirty="0" err="1">
                <a:latin typeface="+mn-lt"/>
              </a:rPr>
              <a:t>GridSearchCV</a:t>
            </a:r>
            <a:r>
              <a:rPr lang="en-US" sz="2200" b="1" dirty="0">
                <a:latin typeface="+mn-lt"/>
              </a:rPr>
              <a:t> </a:t>
            </a:r>
            <a:r>
              <a:rPr lang="en-US" sz="1800" b="1" dirty="0">
                <a:latin typeface="+mn-lt"/>
              </a:rPr>
              <a:t>(5-fold CV) </a:t>
            </a:r>
            <a:r>
              <a:rPr lang="en-US" sz="2200" dirty="0">
                <a:latin typeface="+mn-lt"/>
              </a:rPr>
              <a:t>: tests C values to balance </a:t>
            </a:r>
            <a:r>
              <a:rPr lang="en-US" sz="2200" b="1" dirty="0">
                <a:latin typeface="+mn-lt"/>
              </a:rPr>
              <a:t>underfitting</a:t>
            </a:r>
            <a:r>
              <a:rPr lang="en-US" sz="2200" dirty="0">
                <a:latin typeface="+mn-lt"/>
              </a:rPr>
              <a:t> (low C) &amp;			         </a:t>
            </a:r>
            <a:r>
              <a:rPr lang="en-US" sz="2200" b="1" dirty="0">
                <a:latin typeface="+mn-lt"/>
              </a:rPr>
              <a:t>overfitting</a:t>
            </a:r>
            <a:r>
              <a:rPr lang="en-US" sz="2200" dirty="0">
                <a:latin typeface="+mn-lt"/>
              </a:rPr>
              <a:t> (high C).</a:t>
            </a:r>
          </a:p>
          <a:p>
            <a:r>
              <a:rPr lang="en-US" sz="2200" b="1" dirty="0">
                <a:latin typeface="+mn-lt"/>
              </a:rPr>
              <a:t>Penalty</a:t>
            </a:r>
            <a:r>
              <a:rPr lang="en-US" sz="2200" dirty="0">
                <a:latin typeface="+mn-lt"/>
              </a:rPr>
              <a:t>: </a:t>
            </a:r>
            <a:r>
              <a:rPr lang="en-US" sz="2200" b="1" dirty="0">
                <a:latin typeface="+mn-lt"/>
              </a:rPr>
              <a:t>L1</a:t>
            </a:r>
            <a:r>
              <a:rPr lang="en-US" sz="2200" dirty="0">
                <a:latin typeface="+mn-lt"/>
              </a:rPr>
              <a:t> removes useless features; </a:t>
            </a:r>
            <a:r>
              <a:rPr lang="en-US" sz="2200" b="1" dirty="0">
                <a:latin typeface="+mn-lt"/>
              </a:rPr>
              <a:t>L2</a:t>
            </a:r>
            <a:r>
              <a:rPr lang="en-US" sz="2200" dirty="0">
                <a:latin typeface="+mn-lt"/>
              </a:rPr>
              <a:t> shrinks weights toward zero.</a:t>
            </a:r>
          </a:p>
          <a:p>
            <a:r>
              <a:rPr lang="en-US" sz="2200" b="1" dirty="0">
                <a:latin typeface="+mn-lt"/>
              </a:rPr>
              <a:t>Result</a:t>
            </a:r>
            <a:r>
              <a:rPr lang="en-US" sz="2200" dirty="0">
                <a:latin typeface="+mn-lt"/>
              </a:rPr>
              <a:t>: selects the best parameter combination.</a:t>
            </a:r>
          </a:p>
          <a:p>
            <a:endParaRPr lang="en-US" sz="2200" dirty="0">
              <a:latin typeface="+mn-lt"/>
            </a:endParaRPr>
          </a:p>
          <a:p>
            <a:endParaRPr lang="en-US" sz="2200" dirty="0">
              <a:latin typeface="+mn-lt"/>
            </a:endParaRPr>
          </a:p>
          <a:p>
            <a:endParaRPr lang="en-US" sz="2200" dirty="0">
              <a:latin typeface="+mn-lt"/>
            </a:endParaRPr>
          </a:p>
          <a:p>
            <a:endParaRPr lang="en-US" sz="2200" dirty="0">
              <a:latin typeface="+mn-lt"/>
            </a:endParaRPr>
          </a:p>
          <a:p>
            <a:r>
              <a:rPr lang="en-US" sz="2200" dirty="0">
                <a:latin typeface="+mn-lt"/>
              </a:rPr>
              <a:t>cv = 5: model trains on 4 and tests on 1, repeating for all folds.</a:t>
            </a:r>
          </a:p>
          <a:p>
            <a:r>
              <a:rPr lang="en-US" sz="2000" dirty="0" err="1">
                <a:latin typeface="+mn-lt"/>
              </a:rPr>
              <a:t>ie</a:t>
            </a:r>
            <a:r>
              <a:rPr lang="en-US" sz="2000" dirty="0">
                <a:latin typeface="+mn-lt"/>
              </a:rPr>
              <a:t>: </a:t>
            </a:r>
            <a:r>
              <a:rPr lang="en-US" sz="2000" b="1" dirty="0">
                <a:latin typeface="+mn-lt"/>
              </a:rPr>
              <a:t>moderate regularization </a:t>
            </a:r>
            <a:r>
              <a:rPr lang="en-US" sz="2000" dirty="0">
                <a:latin typeface="+mn-lt"/>
              </a:rPr>
              <a:t>(C = 0.1) with </a:t>
            </a:r>
            <a:r>
              <a:rPr lang="en-US" sz="2000" b="1" dirty="0">
                <a:latin typeface="+mn-lt"/>
              </a:rPr>
              <a:t>L2 penalty </a:t>
            </a:r>
            <a:r>
              <a:rPr lang="en-US" sz="2000" dirty="0">
                <a:latin typeface="+mn-lt"/>
              </a:rPr>
              <a:t>(shrinks weights) and the </a:t>
            </a:r>
            <a:r>
              <a:rPr lang="en-US" sz="2000" b="1" dirty="0" err="1">
                <a:latin typeface="+mn-lt"/>
              </a:rPr>
              <a:t>liblinear</a:t>
            </a:r>
            <a:r>
              <a:rPr lang="en-US" sz="2000" b="1" dirty="0">
                <a:latin typeface="+mn-lt"/>
              </a:rPr>
              <a:t> </a:t>
            </a:r>
            <a:r>
              <a:rPr lang="en-US" sz="2000" dirty="0">
                <a:latin typeface="+mn-lt"/>
              </a:rPr>
              <a:t>solver</a:t>
            </a:r>
            <a:r>
              <a:rPr lang="en-US" sz="2000" b="1" dirty="0">
                <a:latin typeface="+mn-lt"/>
              </a:rPr>
              <a:t> </a:t>
            </a:r>
            <a:r>
              <a:rPr lang="en-US" sz="2000" dirty="0">
                <a:latin typeface="+mn-lt"/>
              </a:rPr>
              <a:t>to give the best for small dataset</a:t>
            </a:r>
            <a:r>
              <a:rPr lang="en-US" sz="2200" dirty="0">
                <a:latin typeface="+mn-lt"/>
              </a:rPr>
              <a:t>.</a:t>
            </a:r>
          </a:p>
          <a:p>
            <a:pPr marL="114300" indent="0">
              <a:buNone/>
            </a:pPr>
            <a:endParaRPr lang="en-US" sz="2200" dirty="0">
              <a:latin typeface="+mn-lt"/>
            </a:endParaRPr>
          </a:p>
        </p:txBody>
      </p:sp>
      <p:sp>
        <p:nvSpPr>
          <p:cNvPr id="121" name="Google Shape;121;p4">
            <a:extLst>
              <a:ext uri="{FF2B5EF4-FFF2-40B4-BE49-F238E27FC236}">
                <a16:creationId xmlns:a16="http://schemas.microsoft.com/office/drawing/2014/main" id="{FC387947-E8F9-1626-1A2F-458CBF329867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D785D048-971E-423F-B8B7-FDBAC031D7CE}" type="datetime1">
              <a:rPr lang="en-US" smtClean="0">
                <a:latin typeface="+mj-lt"/>
              </a:rPr>
              <a:t>3/14/2026</a:t>
            </a:fld>
            <a:endParaRPr dirty="0">
              <a:latin typeface="+mj-lt"/>
            </a:endParaRPr>
          </a:p>
        </p:txBody>
      </p:sp>
      <p:sp>
        <p:nvSpPr>
          <p:cNvPr id="122" name="Google Shape;122;p4">
            <a:extLst>
              <a:ext uri="{FF2B5EF4-FFF2-40B4-BE49-F238E27FC236}">
                <a16:creationId xmlns:a16="http://schemas.microsoft.com/office/drawing/2014/main" id="{1D170A5C-FE45-885F-814E-870FB151DFE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latin typeface="+mj-lt"/>
              </a:rPr>
              <a:t>9</a:t>
            </a:fld>
            <a:endParaRPr dirty="0">
              <a:latin typeface="+mj-lt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1394AF6-749B-BA6E-7F77-9BA9E28B9D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0365710"/>
              </p:ext>
            </p:extLst>
          </p:nvPr>
        </p:nvGraphicFramePr>
        <p:xfrm>
          <a:off x="2032000" y="3407569"/>
          <a:ext cx="8128000" cy="1483360"/>
        </p:xfrm>
        <a:graphic>
          <a:graphicData uri="http://schemas.openxmlformats.org/drawingml/2006/table">
            <a:tbl>
              <a:tblPr firstRow="1" bandRow="1">
                <a:tableStyleId>{BCBE445B-8C63-4D76-8A18-73BCDD31B99A}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419129767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008533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Parameter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Best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96390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C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57654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penalty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L2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56250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solver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dirty="0" err="1"/>
                        <a:t>liblinear</a:t>
                      </a:r>
                      <a:endParaRPr lang="en-US" sz="1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8564209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50428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A23AE9F8-E925-980E-08C4-7D1F76CB2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E47489C-1777-6E78-EED6-590849BFDF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5761" y="2177806"/>
            <a:ext cx="6441350" cy="4114800"/>
          </a:xfrm>
          <a:prstGeom prst="rect">
            <a:avLst/>
          </a:prstGeom>
        </p:spPr>
      </p:pic>
      <p:sp>
        <p:nvSpPr>
          <p:cNvPr id="119" name="Google Shape;119;p4">
            <a:extLst>
              <a:ext uri="{FF2B5EF4-FFF2-40B4-BE49-F238E27FC236}">
                <a16:creationId xmlns:a16="http://schemas.microsoft.com/office/drawing/2014/main" id="{183273C6-7424-A370-CD6D-7D7D1DE64F6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2286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buSzPts val="4000"/>
            </a:pPr>
            <a:r>
              <a:rPr lang="en-US" sz="4000" b="1" dirty="0">
                <a:latin typeface="+mj-lt"/>
                <a:ea typeface="Arial"/>
                <a:cs typeface="Arial"/>
                <a:sym typeface="Arial"/>
              </a:rPr>
              <a:t>Model Development [LR] [2]</a:t>
            </a:r>
            <a:endParaRPr dirty="0">
              <a:latin typeface="+mj-lt"/>
            </a:endParaRPr>
          </a:p>
        </p:txBody>
      </p:sp>
      <p:sp>
        <p:nvSpPr>
          <p:cNvPr id="120" name="Google Shape;120;p4">
            <a:extLst>
              <a:ext uri="{FF2B5EF4-FFF2-40B4-BE49-F238E27FC236}">
                <a16:creationId xmlns:a16="http://schemas.microsoft.com/office/drawing/2014/main" id="{593D6DCC-9F3D-C43D-D2A1-6E9BAD10A4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1600200"/>
            <a:ext cx="100584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just">
              <a:lnSpc>
                <a:spcPct val="100000"/>
              </a:lnSpc>
              <a:spcBef>
                <a:spcPts val="0"/>
              </a:spcBef>
              <a:buSzPts val="2800"/>
            </a:pPr>
            <a:r>
              <a:rPr lang="en-US" sz="2200" b="1" dirty="0">
                <a:latin typeface="+mj-lt"/>
                <a:cs typeface="Arial"/>
                <a:sym typeface="Arial"/>
              </a:rPr>
              <a:t>Top features</a:t>
            </a:r>
            <a:r>
              <a:rPr lang="en-US" sz="2200" dirty="0">
                <a:latin typeface="+mj-lt"/>
                <a:cs typeface="Arial"/>
                <a:sym typeface="Arial"/>
              </a:rPr>
              <a:t>: cp (+0.60), </a:t>
            </a:r>
            <a:r>
              <a:rPr lang="en-US" sz="2200" dirty="0" err="1">
                <a:latin typeface="+mj-lt"/>
                <a:cs typeface="Arial"/>
                <a:sym typeface="Arial"/>
              </a:rPr>
              <a:t>thalach</a:t>
            </a:r>
            <a:r>
              <a:rPr lang="en-US" sz="2200" dirty="0">
                <a:latin typeface="+mj-lt"/>
                <a:cs typeface="Arial"/>
                <a:sym typeface="Arial"/>
              </a:rPr>
              <a:t> (+0.38), ca (−0.44)</a:t>
            </a:r>
            <a:endParaRPr lang="en-US" sz="2200" dirty="0"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4">
            <a:extLst>
              <a:ext uri="{FF2B5EF4-FFF2-40B4-BE49-F238E27FC236}">
                <a16:creationId xmlns:a16="http://schemas.microsoft.com/office/drawing/2014/main" id="{07107DD7-CCE9-7CF0-0736-0C837BEE184D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D785D048-971E-423F-B8B7-FDBAC031D7CE}" type="datetime1">
              <a:rPr lang="en-US" smtClean="0">
                <a:latin typeface="+mj-lt"/>
              </a:rPr>
              <a:t>3/14/2026</a:t>
            </a:fld>
            <a:endParaRPr dirty="0">
              <a:latin typeface="+mj-lt"/>
            </a:endParaRPr>
          </a:p>
        </p:txBody>
      </p:sp>
      <p:sp>
        <p:nvSpPr>
          <p:cNvPr id="122" name="Google Shape;122;p4">
            <a:extLst>
              <a:ext uri="{FF2B5EF4-FFF2-40B4-BE49-F238E27FC236}">
                <a16:creationId xmlns:a16="http://schemas.microsoft.com/office/drawing/2014/main" id="{48CBAD0B-B0AB-6BF5-06F8-471A976CE96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latin typeface="+mj-lt"/>
              </a:rPr>
              <a:t>10</a:t>
            </a:fld>
            <a:endParaRPr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235123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4079EDB-5EDB-2DC9-C904-D3617EE24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">
            <a:extLst>
              <a:ext uri="{FF2B5EF4-FFF2-40B4-BE49-F238E27FC236}">
                <a16:creationId xmlns:a16="http://schemas.microsoft.com/office/drawing/2014/main" id="{1B34C30B-1DAD-B0CB-CCF5-04474223DC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1600200"/>
            <a:ext cx="100584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just">
              <a:lnSpc>
                <a:spcPct val="100000"/>
              </a:lnSpc>
              <a:spcBef>
                <a:spcPts val="0"/>
              </a:spcBef>
              <a:buSzPts val="2800"/>
            </a:pPr>
            <a:r>
              <a:rPr lang="en-US" sz="2200" dirty="0">
                <a:latin typeface="+mj-lt"/>
                <a:cs typeface="Arial"/>
                <a:sym typeface="Arial"/>
              </a:rPr>
              <a:t>Each neuron: </a:t>
            </a:r>
            <a:r>
              <a:rPr lang="en-US" sz="2200" b="1" dirty="0">
                <a:latin typeface="+mj-lt"/>
                <a:cs typeface="Arial"/>
                <a:sym typeface="Arial"/>
              </a:rPr>
              <a:t>13 weights </a:t>
            </a:r>
            <a:r>
              <a:rPr lang="en-US" sz="2200" dirty="0">
                <a:latin typeface="+mj-lt"/>
                <a:cs typeface="Arial"/>
                <a:sym typeface="Arial"/>
              </a:rPr>
              <a:t>+ </a:t>
            </a:r>
            <a:r>
              <a:rPr lang="en-US" sz="2200" b="1" dirty="0">
                <a:latin typeface="+mj-lt"/>
                <a:cs typeface="Arial"/>
                <a:sym typeface="Arial"/>
              </a:rPr>
              <a:t>1 bias </a:t>
            </a:r>
            <a:r>
              <a:rPr lang="en-US" sz="2200" dirty="0">
                <a:latin typeface="+mj-lt"/>
                <a:cs typeface="Arial"/>
                <a:sym typeface="Arial"/>
              </a:rPr>
              <a:t>= 14 parameters; 64 neurons &gt;&gt; </a:t>
            </a:r>
            <a:r>
              <a:rPr lang="en-US" sz="2200" b="1" dirty="0">
                <a:latin typeface="+mj-lt"/>
                <a:cs typeface="Arial"/>
                <a:sym typeface="Arial"/>
              </a:rPr>
              <a:t>896</a:t>
            </a:r>
            <a:r>
              <a:rPr lang="en-US" sz="2200" dirty="0">
                <a:latin typeface="+mj-lt"/>
                <a:cs typeface="Arial"/>
                <a:sym typeface="Arial"/>
              </a:rPr>
              <a:t> parameters, each learning different feature pattern</a:t>
            </a:r>
          </a:p>
          <a:p>
            <a:pPr marL="228600" lvl="0" indent="-228600" algn="just">
              <a:lnSpc>
                <a:spcPct val="100000"/>
              </a:lnSpc>
              <a:spcBef>
                <a:spcPts val="0"/>
              </a:spcBef>
              <a:buSzPts val="2800"/>
            </a:pPr>
            <a:endParaRPr lang="en-US" sz="2200" dirty="0">
              <a:latin typeface="+mj-lt"/>
              <a:cs typeface="Arial"/>
              <a:sym typeface="Arial"/>
            </a:endParaRPr>
          </a:p>
        </p:txBody>
      </p:sp>
      <p:sp>
        <p:nvSpPr>
          <p:cNvPr id="119" name="Google Shape;119;p4">
            <a:extLst>
              <a:ext uri="{FF2B5EF4-FFF2-40B4-BE49-F238E27FC236}">
                <a16:creationId xmlns:a16="http://schemas.microsoft.com/office/drawing/2014/main" id="{F08CE8D4-A0FD-53BE-2588-83B744B60FD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2286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buSzPts val="4000"/>
            </a:pPr>
            <a:r>
              <a:rPr lang="en-US" sz="4000" b="1" dirty="0">
                <a:latin typeface="+mj-lt"/>
                <a:ea typeface="Arial"/>
                <a:cs typeface="Arial"/>
                <a:sym typeface="Arial"/>
              </a:rPr>
              <a:t>Model Development [ANN] [1]</a:t>
            </a:r>
            <a:endParaRPr dirty="0">
              <a:latin typeface="+mj-lt"/>
            </a:endParaRPr>
          </a:p>
        </p:txBody>
      </p:sp>
      <p:sp>
        <p:nvSpPr>
          <p:cNvPr id="121" name="Google Shape;121;p4">
            <a:extLst>
              <a:ext uri="{FF2B5EF4-FFF2-40B4-BE49-F238E27FC236}">
                <a16:creationId xmlns:a16="http://schemas.microsoft.com/office/drawing/2014/main" id="{6DC3D51B-FD27-56D6-C8AC-D481C8247002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D785D048-971E-423F-B8B7-FDBAC031D7CE}" type="datetime1">
              <a:rPr lang="en-US" smtClean="0">
                <a:latin typeface="+mj-lt"/>
              </a:rPr>
              <a:t>3/14/2026</a:t>
            </a:fld>
            <a:endParaRPr dirty="0">
              <a:latin typeface="+mj-lt"/>
            </a:endParaRPr>
          </a:p>
        </p:txBody>
      </p:sp>
      <p:sp>
        <p:nvSpPr>
          <p:cNvPr id="122" name="Google Shape;122;p4">
            <a:extLst>
              <a:ext uri="{FF2B5EF4-FFF2-40B4-BE49-F238E27FC236}">
                <a16:creationId xmlns:a16="http://schemas.microsoft.com/office/drawing/2014/main" id="{D9BDD991-AEA4-6B00-FD0C-A747F745AB6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latin typeface="+mj-lt"/>
              </a:rPr>
              <a:t>11</a:t>
            </a:fld>
            <a:endParaRPr dirty="0">
              <a:latin typeface="+mj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EB461C1-8B63-41FC-A494-5FC39EB097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026" t="11860" r="6421" b="24812"/>
          <a:stretch>
            <a:fillRect/>
          </a:stretch>
        </p:blipFill>
        <p:spPr>
          <a:xfrm>
            <a:off x="4912137" y="2495840"/>
            <a:ext cx="6788543" cy="32004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35DB585-4EA1-90E4-4E50-76D4A1FCE71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333" t="5972" r="6468" b="6640"/>
          <a:stretch>
            <a:fillRect/>
          </a:stretch>
        </p:blipFill>
        <p:spPr>
          <a:xfrm>
            <a:off x="914400" y="2536784"/>
            <a:ext cx="3776292" cy="2743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9C27F65-3102-D019-BA49-A20985F16B19}"/>
              </a:ext>
            </a:extLst>
          </p:cNvPr>
          <p:cNvSpPr txBox="1"/>
          <p:nvPr/>
        </p:nvSpPr>
        <p:spPr>
          <a:xfrm>
            <a:off x="1447396" y="5465407"/>
            <a:ext cx="271029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ptos Mono" panose="020F0502020204030204" pitchFamily="49" charset="0"/>
                <a:ea typeface="ADLaM Display" panose="020F0502020204030204" pitchFamily="2" charset="0"/>
                <a:cs typeface="ADLaM Display" panose="020F0502020204030204" pitchFamily="2" charset="0"/>
              </a:rPr>
              <a:t>Dense: every input connects to every neuron.</a:t>
            </a:r>
          </a:p>
        </p:txBody>
      </p:sp>
    </p:spTree>
    <p:extLst>
      <p:ext uri="{BB962C8B-B14F-4D97-AF65-F5344CB8AC3E}">
        <p14:creationId xmlns:p14="http://schemas.microsoft.com/office/powerpoint/2010/main" val="6657208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D58A76D1-83CF-FF4A-8CF4-8E313685C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">
            <a:extLst>
              <a:ext uri="{FF2B5EF4-FFF2-40B4-BE49-F238E27FC236}">
                <a16:creationId xmlns:a16="http://schemas.microsoft.com/office/drawing/2014/main" id="{A6D65CDD-8CF3-7272-F81A-A501AF5BCC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1600200"/>
            <a:ext cx="100584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just">
              <a:lnSpc>
                <a:spcPct val="150000"/>
              </a:lnSpc>
              <a:spcBef>
                <a:spcPts val="0"/>
              </a:spcBef>
              <a:buSzPts val="2800"/>
            </a:pPr>
            <a:r>
              <a:rPr lang="en-US" sz="2000" b="1" dirty="0">
                <a:latin typeface="+mn-lt"/>
                <a:cs typeface="Arial"/>
                <a:sym typeface="Arial"/>
              </a:rPr>
              <a:t>Dropout</a:t>
            </a:r>
            <a:r>
              <a:rPr lang="en-US" sz="2000" dirty="0">
                <a:latin typeface="+mn-lt"/>
                <a:cs typeface="Arial"/>
                <a:sym typeface="Arial"/>
              </a:rPr>
              <a:t>(0.3): ignores </a:t>
            </a:r>
            <a:r>
              <a:rPr lang="en-US" sz="2000" b="1" dirty="0">
                <a:latin typeface="+mn-lt"/>
                <a:cs typeface="Arial"/>
                <a:sym typeface="Arial"/>
              </a:rPr>
              <a:t>30% </a:t>
            </a:r>
            <a:r>
              <a:rPr lang="en-US" sz="2000" dirty="0">
                <a:latin typeface="+mn-lt"/>
                <a:cs typeface="Arial"/>
                <a:sym typeface="Arial"/>
              </a:rPr>
              <a:t>neurons → reduces </a:t>
            </a:r>
            <a:r>
              <a:rPr lang="en-US" sz="2000" b="1" dirty="0">
                <a:latin typeface="+mn-lt"/>
                <a:cs typeface="Arial"/>
                <a:sym typeface="Arial"/>
              </a:rPr>
              <a:t>overfitting</a:t>
            </a:r>
            <a:r>
              <a:rPr lang="en-US" sz="2000" dirty="0">
                <a:latin typeface="+mn-lt"/>
                <a:cs typeface="Arial"/>
                <a:sym typeface="Arial"/>
              </a:rPr>
              <a:t> (small dataset)</a:t>
            </a:r>
          </a:p>
          <a:p>
            <a:pPr marL="228600" lvl="0" indent="-228600" algn="just">
              <a:lnSpc>
                <a:spcPct val="150000"/>
              </a:lnSpc>
              <a:spcBef>
                <a:spcPts val="0"/>
              </a:spcBef>
              <a:buSzPts val="2800"/>
            </a:pPr>
            <a:r>
              <a:rPr lang="en-US" sz="2000" b="1" dirty="0">
                <a:latin typeface="+mn-lt"/>
                <a:cs typeface="Arial"/>
                <a:sym typeface="Arial"/>
              </a:rPr>
              <a:t>Optimizer</a:t>
            </a:r>
            <a:r>
              <a:rPr lang="en-US" sz="2000" dirty="0">
                <a:latin typeface="+mn-lt"/>
                <a:cs typeface="Arial"/>
                <a:sym typeface="Arial"/>
              </a:rPr>
              <a:t>: </a:t>
            </a:r>
            <a:r>
              <a:rPr lang="en-US" sz="2000" b="1" dirty="0">
                <a:latin typeface="+mn-lt"/>
                <a:cs typeface="Arial"/>
                <a:sym typeface="Arial"/>
              </a:rPr>
              <a:t>Adam</a:t>
            </a:r>
            <a:r>
              <a:rPr lang="en-US" sz="2000" dirty="0">
                <a:latin typeface="+mn-lt"/>
                <a:cs typeface="Arial"/>
                <a:sym typeface="Arial"/>
              </a:rPr>
              <a:t> (adaptive learning rate) | </a:t>
            </a:r>
            <a:r>
              <a:rPr lang="en-US" sz="2000" b="1" dirty="0">
                <a:latin typeface="+mn-lt"/>
                <a:cs typeface="Arial"/>
                <a:sym typeface="Arial"/>
              </a:rPr>
              <a:t>Loss</a:t>
            </a:r>
            <a:r>
              <a:rPr lang="en-US" sz="2000" dirty="0">
                <a:latin typeface="+mn-lt"/>
                <a:cs typeface="Arial"/>
                <a:sym typeface="Arial"/>
              </a:rPr>
              <a:t>: Binary Cross-Entropy</a:t>
            </a:r>
          </a:p>
          <a:p>
            <a:pPr marL="228600" lvl="0" indent="-228600" algn="just">
              <a:lnSpc>
                <a:spcPct val="150000"/>
              </a:lnSpc>
              <a:spcBef>
                <a:spcPts val="0"/>
              </a:spcBef>
              <a:buSzPts val="2800"/>
            </a:pPr>
            <a:r>
              <a:rPr lang="en-US" sz="2000" b="1" dirty="0">
                <a:latin typeface="+mn-lt"/>
                <a:cs typeface="Arial"/>
                <a:sym typeface="Arial"/>
              </a:rPr>
              <a:t>Train loss</a:t>
            </a:r>
            <a:r>
              <a:rPr lang="en-US" sz="2000" dirty="0">
                <a:latin typeface="+mn-lt"/>
                <a:cs typeface="Arial"/>
                <a:sym typeface="Arial"/>
              </a:rPr>
              <a:t>: error on training data | </a:t>
            </a:r>
            <a:r>
              <a:rPr lang="en-US" sz="2000" b="1" dirty="0">
                <a:latin typeface="+mn-lt"/>
                <a:cs typeface="Arial"/>
                <a:sym typeface="Arial"/>
              </a:rPr>
              <a:t>Val loss</a:t>
            </a:r>
            <a:r>
              <a:rPr lang="en-US" sz="2000" dirty="0">
                <a:latin typeface="+mn-lt"/>
                <a:cs typeface="Arial"/>
                <a:sym typeface="Arial"/>
              </a:rPr>
              <a:t>: error on validation data</a:t>
            </a:r>
          </a:p>
        </p:txBody>
      </p:sp>
      <p:sp>
        <p:nvSpPr>
          <p:cNvPr id="119" name="Google Shape;119;p4">
            <a:extLst>
              <a:ext uri="{FF2B5EF4-FFF2-40B4-BE49-F238E27FC236}">
                <a16:creationId xmlns:a16="http://schemas.microsoft.com/office/drawing/2014/main" id="{3485937F-1C8F-3E09-C147-A5561737725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2286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buSzPts val="4000"/>
            </a:pPr>
            <a:r>
              <a:rPr lang="en-US" sz="4000" b="1" dirty="0">
                <a:latin typeface="+mj-lt"/>
                <a:ea typeface="Arial"/>
                <a:cs typeface="Arial"/>
                <a:sym typeface="Arial"/>
              </a:rPr>
              <a:t>Model Development [ANN] [2]</a:t>
            </a:r>
            <a:endParaRPr dirty="0">
              <a:latin typeface="+mj-lt"/>
            </a:endParaRPr>
          </a:p>
        </p:txBody>
      </p:sp>
      <p:sp>
        <p:nvSpPr>
          <p:cNvPr id="121" name="Google Shape;121;p4">
            <a:extLst>
              <a:ext uri="{FF2B5EF4-FFF2-40B4-BE49-F238E27FC236}">
                <a16:creationId xmlns:a16="http://schemas.microsoft.com/office/drawing/2014/main" id="{92DC50E9-9DDC-232D-1D0D-50AB238FFBCE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D785D048-971E-423F-B8B7-FDBAC031D7CE}" type="datetime1">
              <a:rPr lang="en-US" smtClean="0">
                <a:latin typeface="+mj-lt"/>
              </a:rPr>
              <a:t>3/14/2026</a:t>
            </a:fld>
            <a:endParaRPr dirty="0">
              <a:latin typeface="+mj-lt"/>
            </a:endParaRPr>
          </a:p>
        </p:txBody>
      </p:sp>
      <p:sp>
        <p:nvSpPr>
          <p:cNvPr id="122" name="Google Shape;122;p4">
            <a:extLst>
              <a:ext uri="{FF2B5EF4-FFF2-40B4-BE49-F238E27FC236}">
                <a16:creationId xmlns:a16="http://schemas.microsoft.com/office/drawing/2014/main" id="{B8E710E1-C522-ADEB-DF95-8AA86D6CA76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latin typeface="+mj-lt"/>
              </a:rPr>
              <a:t>12</a:t>
            </a:fld>
            <a:endParaRPr dirty="0">
              <a:latin typeface="+mj-lt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6CF9587-EF0A-E6FD-6E51-54731E6BC9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336" t="7610" r="5776" b="40100"/>
          <a:stretch>
            <a:fillRect/>
          </a:stretch>
        </p:blipFill>
        <p:spPr>
          <a:xfrm>
            <a:off x="1219200" y="3135431"/>
            <a:ext cx="9144000" cy="3586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2378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15E01F57-8A4E-6A1F-C3BD-DEBDBF306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">
            <a:extLst>
              <a:ext uri="{FF2B5EF4-FFF2-40B4-BE49-F238E27FC236}">
                <a16:creationId xmlns:a16="http://schemas.microsoft.com/office/drawing/2014/main" id="{D96C63E7-CF66-D476-E9DC-51A2CF9000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1600200"/>
            <a:ext cx="100584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228600" lvl="0" indent="-228600" algn="just">
              <a:lnSpc>
                <a:spcPct val="100000"/>
              </a:lnSpc>
              <a:spcBef>
                <a:spcPts val="0"/>
              </a:spcBef>
              <a:buSzPts val="2800"/>
            </a:pPr>
            <a:endParaRPr lang="en-US" sz="2200" dirty="0">
              <a:latin typeface="+mn-lt"/>
              <a:cs typeface="Arial"/>
              <a:sym typeface="Arial"/>
            </a:endParaRPr>
          </a:p>
          <a:p>
            <a:pPr marL="228600" lvl="0" indent="-228600" algn="just">
              <a:lnSpc>
                <a:spcPct val="100000"/>
              </a:lnSpc>
              <a:spcBef>
                <a:spcPts val="0"/>
              </a:spcBef>
              <a:buSzPts val="2800"/>
            </a:pPr>
            <a:endParaRPr lang="en-US" sz="2200" dirty="0">
              <a:latin typeface="+mn-lt"/>
              <a:cs typeface="Arial"/>
              <a:sym typeface="Arial"/>
            </a:endParaRPr>
          </a:p>
          <a:p>
            <a:pPr marL="228600" lvl="0" indent="-228600" algn="just">
              <a:lnSpc>
                <a:spcPct val="100000"/>
              </a:lnSpc>
              <a:spcBef>
                <a:spcPts val="0"/>
              </a:spcBef>
              <a:buSzPts val="2800"/>
            </a:pPr>
            <a:endParaRPr lang="en-US" sz="2200" dirty="0">
              <a:latin typeface="+mn-lt"/>
              <a:cs typeface="Arial"/>
              <a:sym typeface="Arial"/>
            </a:endParaRPr>
          </a:p>
          <a:p>
            <a:pPr marL="228600" lvl="0" indent="-228600" algn="just">
              <a:lnSpc>
                <a:spcPct val="100000"/>
              </a:lnSpc>
              <a:spcBef>
                <a:spcPts val="0"/>
              </a:spcBef>
              <a:buSzPts val="2800"/>
            </a:pPr>
            <a:endParaRPr lang="en-US" sz="2200" dirty="0">
              <a:latin typeface="+mn-lt"/>
              <a:cs typeface="Arial"/>
              <a:sym typeface="Arial"/>
            </a:endParaRPr>
          </a:p>
          <a:p>
            <a:pPr marL="228600" lvl="0" indent="-228600" algn="just">
              <a:lnSpc>
                <a:spcPct val="100000"/>
              </a:lnSpc>
              <a:spcBef>
                <a:spcPts val="0"/>
              </a:spcBef>
              <a:buSzPts val="2800"/>
            </a:pPr>
            <a:endParaRPr lang="en-US" sz="2200" dirty="0">
              <a:latin typeface="+mn-lt"/>
              <a:cs typeface="Arial"/>
              <a:sym typeface="Arial"/>
            </a:endParaRPr>
          </a:p>
          <a:p>
            <a:pPr marL="228600" lvl="0" indent="-228600" algn="just">
              <a:lnSpc>
                <a:spcPct val="100000"/>
              </a:lnSpc>
              <a:spcBef>
                <a:spcPts val="0"/>
              </a:spcBef>
              <a:buSzPts val="2800"/>
            </a:pPr>
            <a:endParaRPr lang="en-US" sz="2200" dirty="0">
              <a:latin typeface="+mn-lt"/>
              <a:cs typeface="Arial"/>
              <a:sym typeface="Arial"/>
            </a:endParaRPr>
          </a:p>
          <a:p>
            <a:pPr marL="228600" lvl="0" indent="-228600" algn="just">
              <a:lnSpc>
                <a:spcPct val="100000"/>
              </a:lnSpc>
              <a:spcBef>
                <a:spcPts val="0"/>
              </a:spcBef>
              <a:buSzPts val="2800"/>
            </a:pPr>
            <a:endParaRPr lang="en-US" sz="2200" dirty="0">
              <a:latin typeface="+mn-lt"/>
              <a:cs typeface="Arial"/>
              <a:sym typeface="Arial"/>
            </a:endParaRPr>
          </a:p>
          <a:p>
            <a:pPr marL="228600" lvl="0" indent="-228600" algn="just">
              <a:lnSpc>
                <a:spcPct val="100000"/>
              </a:lnSpc>
              <a:spcBef>
                <a:spcPts val="0"/>
              </a:spcBef>
              <a:buSzPts val="2800"/>
            </a:pPr>
            <a:endParaRPr lang="en-US" sz="2200" dirty="0">
              <a:latin typeface="+mn-lt"/>
              <a:cs typeface="Arial"/>
              <a:sym typeface="Arial"/>
            </a:endParaRPr>
          </a:p>
          <a:p>
            <a:pPr marL="228600" lvl="0" indent="-228600" algn="just">
              <a:lnSpc>
                <a:spcPct val="100000"/>
              </a:lnSpc>
              <a:spcBef>
                <a:spcPts val="0"/>
              </a:spcBef>
              <a:buSzPts val="2800"/>
            </a:pPr>
            <a:endParaRPr lang="en-US" sz="2200" dirty="0">
              <a:latin typeface="+mn-lt"/>
              <a:cs typeface="Arial"/>
              <a:sym typeface="Arial"/>
            </a:endParaRPr>
          </a:p>
          <a:p>
            <a:pPr marL="228600" lvl="0" indent="-228600" algn="just">
              <a:lnSpc>
                <a:spcPct val="100000"/>
              </a:lnSpc>
              <a:spcBef>
                <a:spcPts val="0"/>
              </a:spcBef>
              <a:buSzPts val="2800"/>
            </a:pPr>
            <a:endParaRPr lang="en-US" sz="2200" dirty="0">
              <a:latin typeface="+mn-lt"/>
              <a:cs typeface="Arial"/>
              <a:sym typeface="Arial"/>
            </a:endParaRPr>
          </a:p>
          <a:p>
            <a:pPr marL="228600" lvl="0" indent="-228600" algn="just">
              <a:lnSpc>
                <a:spcPct val="100000"/>
              </a:lnSpc>
              <a:spcBef>
                <a:spcPts val="0"/>
              </a:spcBef>
              <a:buSzPts val="2800"/>
            </a:pPr>
            <a:endParaRPr lang="en-US" sz="2200" dirty="0">
              <a:latin typeface="+mn-lt"/>
              <a:cs typeface="Arial"/>
              <a:sym typeface="Arial"/>
            </a:endParaRPr>
          </a:p>
          <a:p>
            <a:pPr marL="228600" lvl="0" indent="-228600" algn="just">
              <a:lnSpc>
                <a:spcPct val="100000"/>
              </a:lnSpc>
              <a:spcBef>
                <a:spcPts val="0"/>
              </a:spcBef>
              <a:buSzPts val="2800"/>
            </a:pPr>
            <a:endParaRPr lang="en-US" sz="2200" dirty="0">
              <a:latin typeface="+mn-lt"/>
              <a:cs typeface="Arial"/>
              <a:sym typeface="Arial"/>
            </a:endParaRPr>
          </a:p>
          <a:p>
            <a:pPr marL="228600" lvl="0" indent="-228600" algn="just">
              <a:lnSpc>
                <a:spcPct val="100000"/>
              </a:lnSpc>
              <a:spcBef>
                <a:spcPts val="0"/>
              </a:spcBef>
              <a:buSzPts val="2800"/>
            </a:pPr>
            <a:endParaRPr lang="en-US" sz="2200" dirty="0">
              <a:latin typeface="+mn-lt"/>
              <a:cs typeface="Arial"/>
              <a:sym typeface="Arial"/>
            </a:endParaRPr>
          </a:p>
          <a:p>
            <a:pPr marL="228600" lvl="0" indent="-228600" algn="just">
              <a:lnSpc>
                <a:spcPct val="100000"/>
              </a:lnSpc>
              <a:spcBef>
                <a:spcPts val="0"/>
              </a:spcBef>
              <a:buSzPts val="2800"/>
            </a:pPr>
            <a:endParaRPr lang="en-US" sz="2200" dirty="0">
              <a:latin typeface="+mn-lt"/>
              <a:cs typeface="Arial"/>
              <a:sym typeface="Arial"/>
            </a:endParaRPr>
          </a:p>
          <a:p>
            <a:pPr marL="228600" lvl="0" indent="-228600" algn="just">
              <a:lnSpc>
                <a:spcPct val="100000"/>
              </a:lnSpc>
              <a:spcBef>
                <a:spcPts val="0"/>
              </a:spcBef>
              <a:buSzPts val="2800"/>
            </a:pPr>
            <a:endParaRPr lang="en-US" sz="2200" dirty="0">
              <a:latin typeface="+mn-lt"/>
              <a:cs typeface="Arial"/>
              <a:sym typeface="Arial"/>
            </a:endParaRPr>
          </a:p>
          <a:p>
            <a:pPr marL="0" lvl="0" indent="0" algn="just">
              <a:lnSpc>
                <a:spcPct val="100000"/>
              </a:lnSpc>
              <a:spcBef>
                <a:spcPts val="0"/>
              </a:spcBef>
              <a:buSzPts val="2800"/>
              <a:buNone/>
            </a:pPr>
            <a:r>
              <a:rPr lang="en-US" sz="1900" dirty="0">
                <a:latin typeface="+mn-lt"/>
                <a:cs typeface="Arial"/>
                <a:sym typeface="Arial"/>
              </a:rPr>
              <a:t>&gt;&gt; 50/50 split: initially learned, later overfitting.</a:t>
            </a:r>
          </a:p>
        </p:txBody>
      </p:sp>
      <p:sp>
        <p:nvSpPr>
          <p:cNvPr id="119" name="Google Shape;119;p4">
            <a:extLst>
              <a:ext uri="{FF2B5EF4-FFF2-40B4-BE49-F238E27FC236}">
                <a16:creationId xmlns:a16="http://schemas.microsoft.com/office/drawing/2014/main" id="{97E86129-5D2C-EF57-3C52-3DC8D1E1F4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2286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buSzPts val="4000"/>
            </a:pPr>
            <a:r>
              <a:rPr lang="en-US" sz="4000" b="1" dirty="0">
                <a:latin typeface="+mj-lt"/>
                <a:ea typeface="Arial"/>
                <a:cs typeface="Arial"/>
                <a:sym typeface="Arial"/>
              </a:rPr>
              <a:t>Model Development [ANN] [2]</a:t>
            </a:r>
            <a:endParaRPr dirty="0">
              <a:latin typeface="+mj-lt"/>
            </a:endParaRPr>
          </a:p>
        </p:txBody>
      </p:sp>
      <p:sp>
        <p:nvSpPr>
          <p:cNvPr id="121" name="Google Shape;121;p4">
            <a:extLst>
              <a:ext uri="{FF2B5EF4-FFF2-40B4-BE49-F238E27FC236}">
                <a16:creationId xmlns:a16="http://schemas.microsoft.com/office/drawing/2014/main" id="{9B865AD8-24AB-70A4-C45A-5655C13788FA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D785D048-971E-423F-B8B7-FDBAC031D7CE}" type="datetime1">
              <a:rPr lang="en-US" smtClean="0">
                <a:latin typeface="+mj-lt"/>
              </a:rPr>
              <a:t>3/14/2026</a:t>
            </a:fld>
            <a:endParaRPr dirty="0">
              <a:latin typeface="+mj-lt"/>
            </a:endParaRPr>
          </a:p>
        </p:txBody>
      </p:sp>
      <p:sp>
        <p:nvSpPr>
          <p:cNvPr id="122" name="Google Shape;122;p4">
            <a:extLst>
              <a:ext uri="{FF2B5EF4-FFF2-40B4-BE49-F238E27FC236}">
                <a16:creationId xmlns:a16="http://schemas.microsoft.com/office/drawing/2014/main" id="{C3177B95-9BB2-EC0B-AE8C-839506AF4CE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latin typeface="+mj-lt"/>
              </a:rPr>
              <a:t>13</a:t>
            </a:fld>
            <a:endParaRPr dirty="0">
              <a:latin typeface="+mj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36E8B7-AF56-D9B3-43D8-4E9FCB55C7F9}"/>
              </a:ext>
            </a:extLst>
          </p:cNvPr>
          <p:cNvSpPr txBox="1"/>
          <p:nvPr/>
        </p:nvSpPr>
        <p:spPr>
          <a:xfrm>
            <a:off x="1115419" y="5205463"/>
            <a:ext cx="99338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ptos Mono" panose="020B0009020202020204" pitchFamily="49" charset="0"/>
              </a:rPr>
              <a:t>64 -&gt; 0.3 -&gt; 32 -&gt; 1 (all)                     32 -&gt; 0.4 -&gt; 16 -&gt; 1 (</a:t>
            </a:r>
            <a:r>
              <a:rPr lang="en-US" sz="1600" dirty="0" err="1">
                <a:latin typeface="Aptos Mono" panose="020B0009020202020204" pitchFamily="49" charset="0"/>
              </a:rPr>
              <a:t>earlyStop</a:t>
            </a:r>
            <a:r>
              <a:rPr lang="en-US" sz="1600" dirty="0">
                <a:latin typeface="Aptos Mono" panose="020B0009020202020204" pitchFamily="49" charset="0"/>
              </a:rPr>
              <a:t>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A7DDAB6-C585-A50A-266C-0AD27DB083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5126" y="1160060"/>
            <a:ext cx="5127674" cy="41148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93BB3F8-4487-4F71-A3C3-9FF459A4D1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295" y="1160060"/>
            <a:ext cx="5059305" cy="4059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441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80D4DD2A-A99F-1C97-C760-F18A6EDA7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">
            <a:extLst>
              <a:ext uri="{FF2B5EF4-FFF2-40B4-BE49-F238E27FC236}">
                <a16:creationId xmlns:a16="http://schemas.microsoft.com/office/drawing/2014/main" id="{08D347A3-7635-72BA-38D7-602ADBFDEF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1600200"/>
            <a:ext cx="100584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 algn="just">
              <a:lnSpc>
                <a:spcPct val="100000"/>
              </a:lnSpc>
              <a:spcBef>
                <a:spcPts val="0"/>
              </a:spcBef>
              <a:buSzPts val="2800"/>
            </a:pPr>
            <a:endParaRPr lang="en-US" sz="2200" dirty="0">
              <a:latin typeface="+mn-lt"/>
              <a:cs typeface="Arial"/>
              <a:sym typeface="Arial"/>
            </a:endParaRPr>
          </a:p>
          <a:p>
            <a:pPr marL="228600" lvl="0" indent="-228600" algn="just">
              <a:lnSpc>
                <a:spcPct val="100000"/>
              </a:lnSpc>
              <a:spcBef>
                <a:spcPts val="0"/>
              </a:spcBef>
              <a:buSzPts val="2800"/>
            </a:pPr>
            <a:endParaRPr lang="en-US" sz="2200" dirty="0">
              <a:latin typeface="+mn-lt"/>
              <a:cs typeface="Arial"/>
              <a:sym typeface="Arial"/>
            </a:endParaRPr>
          </a:p>
          <a:p>
            <a:pPr marL="228600" lvl="0" indent="-228600" algn="just">
              <a:lnSpc>
                <a:spcPct val="100000"/>
              </a:lnSpc>
              <a:spcBef>
                <a:spcPts val="0"/>
              </a:spcBef>
              <a:buSzPts val="2800"/>
            </a:pPr>
            <a:endParaRPr lang="en-US" sz="2200" dirty="0">
              <a:latin typeface="+mn-lt"/>
              <a:cs typeface="Arial"/>
              <a:sym typeface="Arial"/>
            </a:endParaRPr>
          </a:p>
          <a:p>
            <a:pPr marL="228600" lvl="0" indent="-228600" algn="just">
              <a:lnSpc>
                <a:spcPct val="100000"/>
              </a:lnSpc>
              <a:spcBef>
                <a:spcPts val="0"/>
              </a:spcBef>
              <a:buSzPts val="2800"/>
            </a:pPr>
            <a:endParaRPr lang="en-US" sz="2200" dirty="0">
              <a:latin typeface="+mn-lt"/>
              <a:cs typeface="Arial"/>
              <a:sym typeface="Arial"/>
            </a:endParaRPr>
          </a:p>
          <a:p>
            <a:pPr marL="228600" lvl="0" indent="-228600" algn="just">
              <a:lnSpc>
                <a:spcPct val="100000"/>
              </a:lnSpc>
              <a:spcBef>
                <a:spcPts val="0"/>
              </a:spcBef>
              <a:buSzPts val="2800"/>
            </a:pPr>
            <a:endParaRPr lang="en-US" sz="2200" dirty="0">
              <a:latin typeface="+mn-lt"/>
              <a:cs typeface="Arial"/>
              <a:sym typeface="Arial"/>
            </a:endParaRPr>
          </a:p>
          <a:p>
            <a:pPr marL="228600" lvl="0" indent="-228600" algn="just">
              <a:lnSpc>
                <a:spcPct val="100000"/>
              </a:lnSpc>
              <a:spcBef>
                <a:spcPts val="0"/>
              </a:spcBef>
              <a:buSzPts val="2800"/>
            </a:pPr>
            <a:endParaRPr lang="en-US" sz="2200" dirty="0">
              <a:latin typeface="+mn-lt"/>
              <a:cs typeface="Arial"/>
              <a:sym typeface="Arial"/>
            </a:endParaRPr>
          </a:p>
          <a:p>
            <a:pPr marL="228600" lvl="0" indent="-228600" algn="just">
              <a:lnSpc>
                <a:spcPct val="100000"/>
              </a:lnSpc>
              <a:spcBef>
                <a:spcPts val="0"/>
              </a:spcBef>
              <a:buSzPts val="2800"/>
            </a:pPr>
            <a:endParaRPr lang="en-US" sz="2200" dirty="0">
              <a:latin typeface="+mn-lt"/>
              <a:cs typeface="Arial"/>
              <a:sym typeface="Arial"/>
            </a:endParaRPr>
          </a:p>
          <a:p>
            <a:pPr marL="228600" lvl="0" indent="-228600" algn="just">
              <a:lnSpc>
                <a:spcPct val="100000"/>
              </a:lnSpc>
              <a:spcBef>
                <a:spcPts val="0"/>
              </a:spcBef>
              <a:buSzPts val="2800"/>
            </a:pPr>
            <a:endParaRPr lang="en-US" sz="2200" dirty="0">
              <a:latin typeface="+mn-lt"/>
              <a:cs typeface="Arial"/>
              <a:sym typeface="Arial"/>
            </a:endParaRPr>
          </a:p>
          <a:p>
            <a:pPr marL="228600" lvl="0" indent="-228600" algn="just">
              <a:lnSpc>
                <a:spcPct val="100000"/>
              </a:lnSpc>
              <a:spcBef>
                <a:spcPts val="0"/>
              </a:spcBef>
              <a:buSzPts val="2800"/>
            </a:pPr>
            <a:endParaRPr lang="en-US" sz="2200" dirty="0">
              <a:latin typeface="+mn-lt"/>
              <a:cs typeface="Arial"/>
              <a:sym typeface="Arial"/>
            </a:endParaRPr>
          </a:p>
          <a:p>
            <a:pPr marL="228600" lvl="0" indent="-228600" algn="just">
              <a:lnSpc>
                <a:spcPct val="100000"/>
              </a:lnSpc>
              <a:spcBef>
                <a:spcPts val="0"/>
              </a:spcBef>
              <a:buSzPts val="2800"/>
            </a:pPr>
            <a:r>
              <a:rPr lang="en-US" sz="2200" b="1" dirty="0">
                <a:latin typeface="+mn-lt"/>
                <a:cs typeface="Arial"/>
                <a:sym typeface="Arial"/>
              </a:rPr>
              <a:t>Precision</a:t>
            </a:r>
            <a:r>
              <a:rPr lang="en-US" sz="2200" dirty="0">
                <a:latin typeface="+mn-lt"/>
                <a:cs typeface="Arial"/>
                <a:sym typeface="Arial"/>
              </a:rPr>
              <a:t> = of those </a:t>
            </a:r>
            <a:r>
              <a:rPr lang="en-US" sz="2200" b="1" dirty="0">
                <a:latin typeface="+mn-lt"/>
                <a:cs typeface="Arial"/>
                <a:sym typeface="Arial"/>
              </a:rPr>
              <a:t>flagged</a:t>
            </a:r>
            <a:r>
              <a:rPr lang="en-US" sz="2200" dirty="0">
                <a:latin typeface="+mn-lt"/>
                <a:cs typeface="Arial"/>
                <a:sym typeface="Arial"/>
              </a:rPr>
              <a:t> as disease, how many </a:t>
            </a:r>
            <a:r>
              <a:rPr lang="en-US" sz="2200" b="1" dirty="0">
                <a:latin typeface="+mn-lt"/>
                <a:cs typeface="Arial"/>
                <a:sym typeface="Arial"/>
              </a:rPr>
              <a:t>actually had </a:t>
            </a:r>
            <a:r>
              <a:rPr lang="en-US" sz="2200" dirty="0">
                <a:latin typeface="+mn-lt"/>
                <a:cs typeface="Arial"/>
                <a:sym typeface="Arial"/>
              </a:rPr>
              <a:t>it</a:t>
            </a:r>
          </a:p>
          <a:p>
            <a:pPr marL="228600" lvl="0" indent="-228600" algn="just">
              <a:lnSpc>
                <a:spcPct val="100000"/>
              </a:lnSpc>
              <a:spcBef>
                <a:spcPts val="0"/>
              </a:spcBef>
              <a:buSzPts val="2800"/>
            </a:pPr>
            <a:endParaRPr lang="en-US" sz="2200" dirty="0">
              <a:latin typeface="+mn-lt"/>
              <a:cs typeface="Arial"/>
              <a:sym typeface="Arial"/>
            </a:endParaRPr>
          </a:p>
          <a:p>
            <a:pPr marL="228600" lvl="0" indent="-228600" algn="just">
              <a:lnSpc>
                <a:spcPct val="100000"/>
              </a:lnSpc>
              <a:spcBef>
                <a:spcPts val="0"/>
              </a:spcBef>
              <a:buSzPts val="2800"/>
            </a:pPr>
            <a:r>
              <a:rPr lang="en-US" sz="2200" b="1" dirty="0">
                <a:latin typeface="+mn-lt"/>
                <a:cs typeface="Arial"/>
                <a:sym typeface="Arial"/>
              </a:rPr>
              <a:t>Recall</a:t>
            </a:r>
            <a:r>
              <a:rPr lang="en-US" sz="2200" dirty="0">
                <a:latin typeface="+mn-lt"/>
                <a:cs typeface="Arial"/>
                <a:sym typeface="Arial"/>
              </a:rPr>
              <a:t> = of </a:t>
            </a:r>
            <a:r>
              <a:rPr lang="en-US" sz="2200" b="1" dirty="0">
                <a:latin typeface="+mn-lt"/>
                <a:cs typeface="Arial"/>
                <a:sym typeface="Arial"/>
              </a:rPr>
              <a:t>actual</a:t>
            </a:r>
            <a:r>
              <a:rPr lang="en-US" sz="2200" dirty="0">
                <a:latin typeface="+mn-lt"/>
                <a:cs typeface="Arial"/>
                <a:sym typeface="Arial"/>
              </a:rPr>
              <a:t> disease cases, how many were </a:t>
            </a:r>
            <a:r>
              <a:rPr lang="en-US" sz="2200" b="1" dirty="0">
                <a:latin typeface="+mn-lt"/>
                <a:cs typeface="Arial"/>
                <a:sym typeface="Arial"/>
              </a:rPr>
              <a:t>caught</a:t>
            </a:r>
            <a:r>
              <a:rPr lang="en-US" sz="2200" dirty="0">
                <a:latin typeface="+mn-lt"/>
                <a:cs typeface="Arial"/>
                <a:sym typeface="Arial"/>
              </a:rPr>
              <a:t> -&gt;</a:t>
            </a:r>
          </a:p>
          <a:p>
            <a:pPr marL="0" lvl="0" indent="0" algn="just">
              <a:lnSpc>
                <a:spcPct val="100000"/>
              </a:lnSpc>
              <a:spcBef>
                <a:spcPts val="0"/>
              </a:spcBef>
              <a:buSzPts val="2800"/>
              <a:buNone/>
            </a:pPr>
            <a:r>
              <a:rPr lang="en-US" sz="2200" dirty="0">
                <a:latin typeface="+mn-lt"/>
                <a:cs typeface="Arial"/>
                <a:sym typeface="Arial"/>
              </a:rPr>
              <a:t> 	most important in healthcare </a:t>
            </a:r>
          </a:p>
          <a:p>
            <a:pPr marL="0" lvl="0" indent="0" algn="just">
              <a:lnSpc>
                <a:spcPct val="100000"/>
              </a:lnSpc>
              <a:spcBef>
                <a:spcPts val="0"/>
              </a:spcBef>
              <a:buSzPts val="2800"/>
              <a:buNone/>
            </a:pPr>
            <a:r>
              <a:rPr lang="en-US" sz="2200" dirty="0">
                <a:latin typeface="+mn-lt"/>
                <a:cs typeface="Arial"/>
                <a:sym typeface="Arial"/>
              </a:rPr>
              <a:t>		(</a:t>
            </a:r>
            <a:r>
              <a:rPr lang="en-US" sz="2200" b="1" dirty="0">
                <a:latin typeface="+mn-lt"/>
                <a:cs typeface="Arial"/>
                <a:sym typeface="Arial"/>
              </a:rPr>
              <a:t>missing</a:t>
            </a:r>
            <a:r>
              <a:rPr lang="en-US" sz="2200" dirty="0">
                <a:latin typeface="+mn-lt"/>
                <a:cs typeface="Arial"/>
                <a:sym typeface="Arial"/>
              </a:rPr>
              <a:t> a sick patient is </a:t>
            </a:r>
            <a:r>
              <a:rPr lang="en-US" sz="2200" b="1" dirty="0">
                <a:latin typeface="+mn-lt"/>
                <a:cs typeface="Arial"/>
                <a:sym typeface="Arial"/>
              </a:rPr>
              <a:t>worse</a:t>
            </a:r>
            <a:r>
              <a:rPr lang="en-US" sz="2200" dirty="0">
                <a:latin typeface="+mn-lt"/>
                <a:cs typeface="Arial"/>
                <a:sym typeface="Arial"/>
              </a:rPr>
              <a:t> than false alarm)</a:t>
            </a:r>
          </a:p>
        </p:txBody>
      </p:sp>
      <p:sp>
        <p:nvSpPr>
          <p:cNvPr id="119" name="Google Shape;119;p4">
            <a:extLst>
              <a:ext uri="{FF2B5EF4-FFF2-40B4-BE49-F238E27FC236}">
                <a16:creationId xmlns:a16="http://schemas.microsoft.com/office/drawing/2014/main" id="{97A21FDC-9263-EC4A-9C98-B7B75546371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2286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buSzPts val="4000"/>
            </a:pPr>
            <a:r>
              <a:rPr lang="en-US" sz="4000" b="1" dirty="0">
                <a:latin typeface="+mj-lt"/>
                <a:ea typeface="Arial"/>
                <a:cs typeface="Arial"/>
                <a:sym typeface="Arial"/>
              </a:rPr>
              <a:t>Metrics</a:t>
            </a:r>
            <a:endParaRPr dirty="0">
              <a:latin typeface="+mj-lt"/>
            </a:endParaRPr>
          </a:p>
        </p:txBody>
      </p:sp>
      <p:sp>
        <p:nvSpPr>
          <p:cNvPr id="121" name="Google Shape;121;p4">
            <a:extLst>
              <a:ext uri="{FF2B5EF4-FFF2-40B4-BE49-F238E27FC236}">
                <a16:creationId xmlns:a16="http://schemas.microsoft.com/office/drawing/2014/main" id="{3E98979A-FFC8-8713-4B4C-B3E3DE3DCC9D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D785D048-971E-423F-B8B7-FDBAC031D7CE}" type="datetime1">
              <a:rPr lang="en-US" smtClean="0">
                <a:latin typeface="+mj-lt"/>
              </a:rPr>
              <a:t>3/14/2026</a:t>
            </a:fld>
            <a:endParaRPr dirty="0">
              <a:latin typeface="+mj-lt"/>
            </a:endParaRPr>
          </a:p>
        </p:txBody>
      </p:sp>
      <p:sp>
        <p:nvSpPr>
          <p:cNvPr id="122" name="Google Shape;122;p4">
            <a:extLst>
              <a:ext uri="{FF2B5EF4-FFF2-40B4-BE49-F238E27FC236}">
                <a16:creationId xmlns:a16="http://schemas.microsoft.com/office/drawing/2014/main" id="{C0B128E5-E564-52A3-1ABA-99731E15C81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latin typeface="+mj-lt"/>
              </a:rPr>
              <a:t>14</a:t>
            </a:fld>
            <a:endParaRPr dirty="0">
              <a:latin typeface="+mj-lt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2A7BC72-C381-178A-096E-BD92E74235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6754642"/>
              </p:ext>
            </p:extLst>
          </p:nvPr>
        </p:nvGraphicFramePr>
        <p:xfrm>
          <a:off x="1969258" y="1600200"/>
          <a:ext cx="8253484" cy="1981200"/>
        </p:xfrm>
        <a:graphic>
          <a:graphicData uri="http://schemas.openxmlformats.org/drawingml/2006/table">
            <a:tbl>
              <a:tblPr/>
              <a:tblGrid>
                <a:gridCol w="1946712">
                  <a:extLst>
                    <a:ext uri="{9D8B030D-6E8A-4147-A177-3AD203B41FA5}">
                      <a16:colId xmlns:a16="http://schemas.microsoft.com/office/drawing/2014/main" val="1516742118"/>
                    </a:ext>
                  </a:extLst>
                </a:gridCol>
                <a:gridCol w="2631104">
                  <a:extLst>
                    <a:ext uri="{9D8B030D-6E8A-4147-A177-3AD203B41FA5}">
                      <a16:colId xmlns:a16="http://schemas.microsoft.com/office/drawing/2014/main" val="1621366822"/>
                    </a:ext>
                  </a:extLst>
                </a:gridCol>
                <a:gridCol w="3675668">
                  <a:extLst>
                    <a:ext uri="{9D8B030D-6E8A-4147-A177-3AD203B41FA5}">
                      <a16:colId xmlns:a16="http://schemas.microsoft.com/office/drawing/2014/main" val="23546595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/>
                        <a:t>Metric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/>
                        <a:t>Formula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/>
                        <a:t>Why it matters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81468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/>
                        <a:t>Accuracy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/>
                        <a:t>correct / total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/>
                        <a:t>Overall correctness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19556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/>
                        <a:t>Precision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/>
                        <a:t>TP / (TP + FP)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/>
                        <a:t>Fewer false alarms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43809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/>
                        <a:t>Recall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/>
                        <a:t>TP / (TP + FN)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/>
                        <a:t>Catch sick patients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03248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/>
                        <a:t>F1-Score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/>
                        <a:t>2PR / (P + R)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/>
                        <a:t>Balance of precision &amp; recall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25297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69599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DF30F4ED-582F-7347-7679-8E4027AC9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">
            <a:extLst>
              <a:ext uri="{FF2B5EF4-FFF2-40B4-BE49-F238E27FC236}">
                <a16:creationId xmlns:a16="http://schemas.microsoft.com/office/drawing/2014/main" id="{438A59AF-C7DF-BF16-CB69-0BF9B400A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1600200"/>
            <a:ext cx="100584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>
              <a:lnSpc>
                <a:spcPct val="100000"/>
              </a:lnSpc>
              <a:spcBef>
                <a:spcPts val="0"/>
              </a:spcBef>
              <a:buSzPts val="2800"/>
              <a:buNone/>
            </a:pPr>
            <a:endParaRPr lang="en-US" sz="2200" dirty="0">
              <a:latin typeface="+mn-lt"/>
              <a:cs typeface="Arial"/>
              <a:sym typeface="Arial"/>
            </a:endParaRPr>
          </a:p>
          <a:p>
            <a:pPr marL="228600" lvl="0" indent="-228600" algn="just">
              <a:lnSpc>
                <a:spcPct val="100000"/>
              </a:lnSpc>
              <a:spcBef>
                <a:spcPts val="0"/>
              </a:spcBef>
              <a:buSzPts val="2800"/>
            </a:pPr>
            <a:endParaRPr lang="en-US" sz="2200" dirty="0">
              <a:latin typeface="+mn-lt"/>
              <a:cs typeface="Arial"/>
              <a:sym typeface="Arial"/>
            </a:endParaRPr>
          </a:p>
          <a:p>
            <a:pPr marL="228600" lvl="0" indent="-228600" algn="just">
              <a:lnSpc>
                <a:spcPct val="100000"/>
              </a:lnSpc>
              <a:spcBef>
                <a:spcPts val="0"/>
              </a:spcBef>
              <a:buSzPts val="2800"/>
            </a:pPr>
            <a:endParaRPr lang="en-US" sz="2200" dirty="0">
              <a:latin typeface="+mn-lt"/>
              <a:cs typeface="Arial"/>
              <a:sym typeface="Arial"/>
            </a:endParaRPr>
          </a:p>
          <a:p>
            <a:pPr marL="228600" lvl="0" indent="-228600" algn="just">
              <a:lnSpc>
                <a:spcPct val="100000"/>
              </a:lnSpc>
              <a:spcBef>
                <a:spcPts val="0"/>
              </a:spcBef>
              <a:buSzPts val="2800"/>
            </a:pPr>
            <a:endParaRPr lang="en-US" sz="2200" dirty="0">
              <a:latin typeface="+mn-lt"/>
              <a:cs typeface="Arial"/>
              <a:sym typeface="Arial"/>
            </a:endParaRPr>
          </a:p>
          <a:p>
            <a:pPr marL="228600" lvl="0" indent="-228600" algn="just">
              <a:lnSpc>
                <a:spcPct val="100000"/>
              </a:lnSpc>
              <a:spcBef>
                <a:spcPts val="0"/>
              </a:spcBef>
              <a:buSzPts val="2800"/>
            </a:pPr>
            <a:endParaRPr lang="en-US" sz="2200" dirty="0">
              <a:latin typeface="+mn-lt"/>
              <a:cs typeface="Arial"/>
              <a:sym typeface="Arial"/>
            </a:endParaRPr>
          </a:p>
          <a:p>
            <a:pPr marL="228600" lvl="0" indent="-228600" algn="just">
              <a:lnSpc>
                <a:spcPct val="100000"/>
              </a:lnSpc>
              <a:spcBef>
                <a:spcPts val="0"/>
              </a:spcBef>
              <a:buSzPts val="2800"/>
            </a:pPr>
            <a:endParaRPr lang="en-US" sz="2200" dirty="0">
              <a:latin typeface="+mn-lt"/>
              <a:cs typeface="Arial"/>
              <a:sym typeface="Arial"/>
            </a:endParaRPr>
          </a:p>
          <a:p>
            <a:pPr marL="228600" lvl="0" indent="-228600" algn="just">
              <a:lnSpc>
                <a:spcPct val="100000"/>
              </a:lnSpc>
              <a:spcBef>
                <a:spcPts val="0"/>
              </a:spcBef>
              <a:buSzPts val="2800"/>
            </a:pPr>
            <a:endParaRPr lang="en-US" sz="2200" dirty="0">
              <a:latin typeface="+mn-lt"/>
              <a:cs typeface="Arial"/>
              <a:sym typeface="Arial"/>
            </a:endParaRPr>
          </a:p>
          <a:p>
            <a:pPr marL="228600" lvl="0" indent="-228600" algn="just">
              <a:lnSpc>
                <a:spcPct val="100000"/>
              </a:lnSpc>
              <a:spcBef>
                <a:spcPts val="0"/>
              </a:spcBef>
              <a:buSzPts val="2800"/>
            </a:pPr>
            <a:endParaRPr lang="en-US" sz="2200" dirty="0">
              <a:latin typeface="+mn-lt"/>
              <a:cs typeface="Arial"/>
              <a:sym typeface="Arial"/>
            </a:endParaRPr>
          </a:p>
          <a:p>
            <a:pPr marL="228600" lvl="0" indent="-228600" algn="just">
              <a:lnSpc>
                <a:spcPct val="100000"/>
              </a:lnSpc>
              <a:spcBef>
                <a:spcPts val="0"/>
              </a:spcBef>
              <a:buSzPts val="2800"/>
            </a:pPr>
            <a:endParaRPr lang="en-US" sz="2200" dirty="0">
              <a:latin typeface="+mn-lt"/>
              <a:cs typeface="Arial"/>
              <a:sym typeface="Arial"/>
            </a:endParaRPr>
          </a:p>
          <a:p>
            <a:pPr marL="228600" lvl="0" indent="-228600" algn="just">
              <a:lnSpc>
                <a:spcPct val="100000"/>
              </a:lnSpc>
              <a:spcBef>
                <a:spcPts val="0"/>
              </a:spcBef>
              <a:buSzPts val="2800"/>
            </a:pPr>
            <a:endParaRPr lang="en-US" sz="2200" dirty="0">
              <a:latin typeface="+mn-lt"/>
              <a:cs typeface="Arial"/>
              <a:sym typeface="Arial"/>
            </a:endParaRPr>
          </a:p>
          <a:p>
            <a:pPr marL="228600" lvl="0" indent="-228600" algn="just">
              <a:lnSpc>
                <a:spcPct val="100000"/>
              </a:lnSpc>
              <a:spcBef>
                <a:spcPts val="0"/>
              </a:spcBef>
              <a:buSzPts val="2800"/>
            </a:pPr>
            <a:endParaRPr lang="en-US" sz="2200" dirty="0">
              <a:latin typeface="+mn-lt"/>
              <a:cs typeface="Arial"/>
              <a:sym typeface="Arial"/>
            </a:endParaRPr>
          </a:p>
          <a:p>
            <a:pPr marL="228600" lvl="0" indent="-228600" algn="just">
              <a:lnSpc>
                <a:spcPct val="100000"/>
              </a:lnSpc>
              <a:spcBef>
                <a:spcPts val="0"/>
              </a:spcBef>
              <a:buSzPts val="2800"/>
            </a:pPr>
            <a:r>
              <a:rPr lang="en-US" sz="2000" dirty="0">
                <a:latin typeface="+mn-lt"/>
                <a:cs typeface="Arial"/>
                <a:sym typeface="Arial"/>
              </a:rPr>
              <a:t>Confusion matrices: </a:t>
            </a:r>
            <a:r>
              <a:rPr lang="en-US" sz="2000" b="1" dirty="0">
                <a:latin typeface="+mn-lt"/>
                <a:cs typeface="Arial"/>
                <a:sym typeface="Arial"/>
              </a:rPr>
              <a:t>LR</a:t>
            </a:r>
            <a:r>
              <a:rPr lang="en-US" sz="2000" dirty="0">
                <a:latin typeface="+mn-lt"/>
                <a:cs typeface="Arial"/>
                <a:sym typeface="Arial"/>
              </a:rPr>
              <a:t> caught </a:t>
            </a:r>
            <a:r>
              <a:rPr lang="en-US" sz="2000" b="1" dirty="0">
                <a:latin typeface="+mn-lt"/>
                <a:cs typeface="Arial"/>
                <a:sym typeface="Arial"/>
              </a:rPr>
              <a:t>28/33</a:t>
            </a:r>
            <a:r>
              <a:rPr lang="en-US" sz="2000" dirty="0">
                <a:latin typeface="+mn-lt"/>
                <a:cs typeface="Arial"/>
                <a:sym typeface="Arial"/>
              </a:rPr>
              <a:t> disease cases, </a:t>
            </a:r>
            <a:r>
              <a:rPr lang="en-US" sz="2000" b="1" dirty="0">
                <a:latin typeface="+mn-lt"/>
                <a:cs typeface="Arial"/>
                <a:sym typeface="Arial"/>
              </a:rPr>
              <a:t>ANN</a:t>
            </a:r>
            <a:r>
              <a:rPr lang="en-US" sz="2000" dirty="0">
                <a:latin typeface="+mn-lt"/>
                <a:cs typeface="Arial"/>
                <a:sym typeface="Arial"/>
              </a:rPr>
              <a:t> caught </a:t>
            </a:r>
            <a:r>
              <a:rPr lang="en-US" sz="2000" b="1" dirty="0">
                <a:latin typeface="+mn-lt"/>
                <a:cs typeface="Arial"/>
                <a:sym typeface="Arial"/>
              </a:rPr>
              <a:t>26/33</a:t>
            </a:r>
          </a:p>
          <a:p>
            <a:pPr marL="228600" lvl="0" indent="-228600" algn="just">
              <a:lnSpc>
                <a:spcPct val="100000"/>
              </a:lnSpc>
              <a:spcBef>
                <a:spcPts val="0"/>
              </a:spcBef>
              <a:buSzPts val="2800"/>
            </a:pPr>
            <a:r>
              <a:rPr lang="en-US" sz="2000" dirty="0">
                <a:latin typeface="+mn-lt"/>
                <a:cs typeface="Arial"/>
                <a:sym typeface="Arial"/>
              </a:rPr>
              <a:t>LR missed fewer sick patients</a:t>
            </a:r>
          </a:p>
        </p:txBody>
      </p:sp>
      <p:sp>
        <p:nvSpPr>
          <p:cNvPr id="119" name="Google Shape;119;p4">
            <a:extLst>
              <a:ext uri="{FF2B5EF4-FFF2-40B4-BE49-F238E27FC236}">
                <a16:creationId xmlns:a16="http://schemas.microsoft.com/office/drawing/2014/main" id="{B57486D3-3081-A0D6-E504-C548FD20FD6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2286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buSzPts val="4000"/>
            </a:pPr>
            <a:r>
              <a:rPr lang="en-US" sz="4000" b="1" dirty="0">
                <a:latin typeface="+mj-lt"/>
                <a:ea typeface="Arial"/>
                <a:cs typeface="Arial"/>
                <a:sym typeface="Arial"/>
              </a:rPr>
              <a:t>Confusion Matrices</a:t>
            </a:r>
            <a:endParaRPr dirty="0">
              <a:latin typeface="+mj-lt"/>
            </a:endParaRPr>
          </a:p>
        </p:txBody>
      </p:sp>
      <p:sp>
        <p:nvSpPr>
          <p:cNvPr id="121" name="Google Shape;121;p4">
            <a:extLst>
              <a:ext uri="{FF2B5EF4-FFF2-40B4-BE49-F238E27FC236}">
                <a16:creationId xmlns:a16="http://schemas.microsoft.com/office/drawing/2014/main" id="{E8729E86-29A7-F096-72A0-2D944D68988B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D785D048-971E-423F-B8B7-FDBAC031D7CE}" type="datetime1">
              <a:rPr lang="en-US" smtClean="0">
                <a:latin typeface="+mj-lt"/>
              </a:rPr>
              <a:t>3/14/2026</a:t>
            </a:fld>
            <a:endParaRPr dirty="0">
              <a:latin typeface="+mj-lt"/>
            </a:endParaRPr>
          </a:p>
        </p:txBody>
      </p:sp>
      <p:sp>
        <p:nvSpPr>
          <p:cNvPr id="122" name="Google Shape;122;p4">
            <a:extLst>
              <a:ext uri="{FF2B5EF4-FFF2-40B4-BE49-F238E27FC236}">
                <a16:creationId xmlns:a16="http://schemas.microsoft.com/office/drawing/2014/main" id="{11CF9B3F-030D-D8D1-B3FF-B1E7F2E2D25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latin typeface="+mj-lt"/>
              </a:rPr>
              <a:t>15</a:t>
            </a:fld>
            <a:endParaRPr dirty="0">
              <a:latin typeface="+mj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DD1428-578E-CEB4-D9AA-2A24A56729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622" y="1143000"/>
            <a:ext cx="4729156" cy="405993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272C2CB-D294-6713-1004-9F559F84C0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1143000"/>
            <a:ext cx="4845154" cy="4059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1696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C26B8374-640A-348D-D50D-35DA18862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">
            <a:extLst>
              <a:ext uri="{FF2B5EF4-FFF2-40B4-BE49-F238E27FC236}">
                <a16:creationId xmlns:a16="http://schemas.microsoft.com/office/drawing/2014/main" id="{1D1BAD95-0630-8E94-8E87-E1EB76724E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1600200"/>
            <a:ext cx="100584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algn="just">
              <a:lnSpc>
                <a:spcPct val="100000"/>
              </a:lnSpc>
              <a:spcBef>
                <a:spcPts val="0"/>
              </a:spcBef>
              <a:buSzPts val="2800"/>
              <a:buFont typeface="Arial" panose="020B0604020202020204" pitchFamily="34" charset="0"/>
              <a:buChar char="•"/>
            </a:pPr>
            <a:r>
              <a:rPr lang="en-US" sz="1900" b="1" dirty="0">
                <a:latin typeface="+mn-lt"/>
                <a:cs typeface="Arial"/>
                <a:sym typeface="Arial"/>
              </a:rPr>
              <a:t>ROC</a:t>
            </a:r>
            <a:r>
              <a:rPr lang="en-US" sz="1900" dirty="0">
                <a:latin typeface="+mn-lt"/>
                <a:cs typeface="Arial"/>
                <a:sym typeface="Arial"/>
              </a:rPr>
              <a:t> curve: </a:t>
            </a:r>
            <a:r>
              <a:rPr lang="en-US" sz="1900" b="1" dirty="0">
                <a:latin typeface="+mn-lt"/>
                <a:cs typeface="Arial"/>
                <a:sym typeface="Arial"/>
              </a:rPr>
              <a:t>TPR</a:t>
            </a:r>
            <a:r>
              <a:rPr lang="en-US" sz="1900" dirty="0">
                <a:latin typeface="+mn-lt"/>
                <a:cs typeface="Arial"/>
                <a:sym typeface="Arial"/>
              </a:rPr>
              <a:t> vs </a:t>
            </a:r>
            <a:r>
              <a:rPr lang="en-US" sz="1900" b="1" dirty="0">
                <a:latin typeface="+mn-lt"/>
                <a:cs typeface="Arial"/>
                <a:sym typeface="Arial"/>
              </a:rPr>
              <a:t>FPR</a:t>
            </a:r>
            <a:r>
              <a:rPr lang="en-US" sz="1900" dirty="0">
                <a:latin typeface="+mn-lt"/>
                <a:cs typeface="Arial"/>
                <a:sym typeface="Arial"/>
              </a:rPr>
              <a:t> across threshold (diagonal = random, AUC = 0.5)</a:t>
            </a:r>
          </a:p>
          <a:p>
            <a:pPr marL="342900" lvl="0" algn="just">
              <a:lnSpc>
                <a:spcPct val="100000"/>
              </a:lnSpc>
              <a:spcBef>
                <a:spcPts val="0"/>
              </a:spcBef>
              <a:buSzPts val="2800"/>
              <a:buFont typeface="Arial" panose="020B0604020202020204" pitchFamily="34" charset="0"/>
              <a:buChar char="•"/>
            </a:pPr>
            <a:r>
              <a:rPr lang="en-US" sz="1900" b="1" dirty="0">
                <a:latin typeface="+mn-lt"/>
                <a:cs typeface="Arial"/>
                <a:sym typeface="Arial"/>
              </a:rPr>
              <a:t>AUC</a:t>
            </a:r>
            <a:r>
              <a:rPr lang="en-US" sz="1900" dirty="0">
                <a:latin typeface="+mn-lt"/>
                <a:cs typeface="Arial"/>
                <a:sym typeface="Arial"/>
              </a:rPr>
              <a:t>: single summary (1 = perfect, 0.5 = random)</a:t>
            </a:r>
          </a:p>
          <a:p>
            <a:pPr marL="342900" lvl="0" algn="just">
              <a:lnSpc>
                <a:spcPct val="100000"/>
              </a:lnSpc>
              <a:spcBef>
                <a:spcPts val="0"/>
              </a:spcBef>
              <a:buSzPts val="2800"/>
              <a:buFont typeface="Arial" panose="020B0604020202020204" pitchFamily="34" charset="0"/>
              <a:buChar char="•"/>
            </a:pPr>
            <a:r>
              <a:rPr lang="en-US" sz="1900" b="1" dirty="0">
                <a:latin typeface="+mn-lt"/>
                <a:cs typeface="Arial"/>
                <a:sym typeface="Arial"/>
              </a:rPr>
              <a:t>LR</a:t>
            </a:r>
            <a:r>
              <a:rPr lang="en-US" sz="1900" dirty="0">
                <a:latin typeface="+mn-lt"/>
                <a:cs typeface="Arial"/>
                <a:sym typeface="Arial"/>
              </a:rPr>
              <a:t> = 0.86, </a:t>
            </a:r>
            <a:r>
              <a:rPr lang="en-US" sz="1900" b="1" dirty="0">
                <a:latin typeface="+mn-lt"/>
                <a:cs typeface="Arial"/>
                <a:sym typeface="Arial"/>
              </a:rPr>
              <a:t>ANN</a:t>
            </a:r>
            <a:r>
              <a:rPr lang="en-US" sz="1900" dirty="0">
                <a:latin typeface="+mn-lt"/>
                <a:cs typeface="Arial"/>
                <a:sym typeface="Arial"/>
              </a:rPr>
              <a:t> = 0.84: both good, LR slightly better</a:t>
            </a:r>
          </a:p>
        </p:txBody>
      </p:sp>
      <p:sp>
        <p:nvSpPr>
          <p:cNvPr id="119" name="Google Shape;119;p4">
            <a:extLst>
              <a:ext uri="{FF2B5EF4-FFF2-40B4-BE49-F238E27FC236}">
                <a16:creationId xmlns:a16="http://schemas.microsoft.com/office/drawing/2014/main" id="{1FF8C28C-AB29-4DA6-C540-F1F440CBD8E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2286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buSzPts val="4000"/>
            </a:pPr>
            <a:r>
              <a:rPr lang="en-US" sz="4000" b="1" dirty="0">
                <a:latin typeface="+mj-lt"/>
                <a:ea typeface="Arial"/>
                <a:cs typeface="Arial"/>
                <a:sym typeface="Arial"/>
              </a:rPr>
              <a:t>ROC Curves &amp; AUC</a:t>
            </a:r>
            <a:endParaRPr dirty="0">
              <a:latin typeface="+mj-lt"/>
            </a:endParaRPr>
          </a:p>
        </p:txBody>
      </p:sp>
      <p:sp>
        <p:nvSpPr>
          <p:cNvPr id="121" name="Google Shape;121;p4">
            <a:extLst>
              <a:ext uri="{FF2B5EF4-FFF2-40B4-BE49-F238E27FC236}">
                <a16:creationId xmlns:a16="http://schemas.microsoft.com/office/drawing/2014/main" id="{B135F091-4A02-9B2C-E2E6-3D53453305CC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D785D048-971E-423F-B8B7-FDBAC031D7CE}" type="datetime1">
              <a:rPr lang="en-US" smtClean="0">
                <a:latin typeface="+mj-lt"/>
              </a:rPr>
              <a:t>3/14/2026</a:t>
            </a:fld>
            <a:endParaRPr dirty="0">
              <a:latin typeface="+mj-lt"/>
            </a:endParaRPr>
          </a:p>
        </p:txBody>
      </p:sp>
      <p:sp>
        <p:nvSpPr>
          <p:cNvPr id="122" name="Google Shape;122;p4">
            <a:extLst>
              <a:ext uri="{FF2B5EF4-FFF2-40B4-BE49-F238E27FC236}">
                <a16:creationId xmlns:a16="http://schemas.microsoft.com/office/drawing/2014/main" id="{33AF1DA0-7BAC-56FD-EDAC-F10BD637748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latin typeface="+mj-lt"/>
              </a:rPr>
              <a:t>16</a:t>
            </a:fld>
            <a:endParaRPr dirty="0">
              <a:latin typeface="+mj-l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21CDB2-544E-DC77-20CE-96B8C2460B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3947" y="2528520"/>
            <a:ext cx="5059305" cy="4059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3288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5A805D85-12C3-15B5-714E-37AB43DAE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">
            <a:extLst>
              <a:ext uri="{FF2B5EF4-FFF2-40B4-BE49-F238E27FC236}">
                <a16:creationId xmlns:a16="http://schemas.microsoft.com/office/drawing/2014/main" id="{BC5779DF-417F-D2B5-A8D4-563439F667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1600200"/>
            <a:ext cx="100584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algn="just">
              <a:lnSpc>
                <a:spcPct val="100000"/>
              </a:lnSpc>
              <a:spcBef>
                <a:spcPts val="0"/>
              </a:spcBef>
              <a:buSzPts val="2800"/>
              <a:buFont typeface="Arial" panose="020B0604020202020204" pitchFamily="34" charset="0"/>
              <a:buChar char="•"/>
            </a:pPr>
            <a:endParaRPr lang="en-US" sz="2000" dirty="0">
              <a:latin typeface="+mn-lt"/>
              <a:cs typeface="Arial"/>
              <a:sym typeface="Arial"/>
            </a:endParaRPr>
          </a:p>
          <a:p>
            <a:pPr marL="342900" lvl="0" algn="just">
              <a:lnSpc>
                <a:spcPct val="100000"/>
              </a:lnSpc>
              <a:spcBef>
                <a:spcPts val="0"/>
              </a:spcBef>
              <a:buSzPts val="2800"/>
              <a:buFont typeface="Arial" panose="020B0604020202020204" pitchFamily="34" charset="0"/>
              <a:buChar char="•"/>
            </a:pPr>
            <a:endParaRPr lang="en-US" sz="2000" dirty="0">
              <a:latin typeface="+mn-lt"/>
              <a:cs typeface="Arial"/>
              <a:sym typeface="Arial"/>
            </a:endParaRPr>
          </a:p>
          <a:p>
            <a:pPr marL="342900" lvl="0" algn="just">
              <a:lnSpc>
                <a:spcPct val="100000"/>
              </a:lnSpc>
              <a:spcBef>
                <a:spcPts val="0"/>
              </a:spcBef>
              <a:buSzPts val="2800"/>
              <a:buFont typeface="Arial" panose="020B0604020202020204" pitchFamily="34" charset="0"/>
              <a:buChar char="•"/>
            </a:pPr>
            <a:endParaRPr lang="en-US" sz="2000" dirty="0">
              <a:latin typeface="+mn-lt"/>
              <a:cs typeface="Arial"/>
              <a:sym typeface="Arial"/>
            </a:endParaRPr>
          </a:p>
          <a:p>
            <a:pPr marL="342900" lvl="0" algn="just">
              <a:lnSpc>
                <a:spcPct val="100000"/>
              </a:lnSpc>
              <a:spcBef>
                <a:spcPts val="0"/>
              </a:spcBef>
              <a:buSzPts val="2800"/>
              <a:buFont typeface="Arial" panose="020B0604020202020204" pitchFamily="34" charset="0"/>
              <a:buChar char="•"/>
            </a:pPr>
            <a:endParaRPr lang="en-US" sz="2000" dirty="0">
              <a:latin typeface="+mn-lt"/>
              <a:cs typeface="Arial"/>
              <a:sym typeface="Arial"/>
            </a:endParaRPr>
          </a:p>
          <a:p>
            <a:pPr marL="0" lvl="0" indent="0" algn="just">
              <a:lnSpc>
                <a:spcPct val="100000"/>
              </a:lnSpc>
              <a:spcBef>
                <a:spcPts val="0"/>
              </a:spcBef>
              <a:buSzPts val="2800"/>
              <a:buNone/>
            </a:pPr>
            <a:endParaRPr lang="en-US" sz="2000" dirty="0">
              <a:latin typeface="+mn-lt"/>
              <a:cs typeface="Arial"/>
              <a:sym typeface="Arial"/>
            </a:endParaRPr>
          </a:p>
          <a:p>
            <a:pPr marL="342900" lvl="0" algn="just">
              <a:lnSpc>
                <a:spcPct val="150000"/>
              </a:lnSpc>
              <a:spcBef>
                <a:spcPts val="0"/>
              </a:spcBef>
              <a:buSzPts val="2800"/>
              <a:buFont typeface="Arial" panose="020B0604020202020204" pitchFamily="34" charset="0"/>
              <a:buChar char="•"/>
            </a:pPr>
            <a:r>
              <a:rPr lang="en-US" sz="2000" b="1" dirty="0">
                <a:latin typeface="+mn-lt"/>
                <a:cs typeface="Arial"/>
                <a:sym typeface="Arial"/>
              </a:rPr>
              <a:t>LR</a:t>
            </a:r>
            <a:r>
              <a:rPr lang="en-US" sz="2000" dirty="0">
                <a:latin typeface="+mn-lt"/>
                <a:cs typeface="Arial"/>
                <a:sym typeface="Arial"/>
              </a:rPr>
              <a:t> wins 4/5 metrics</a:t>
            </a:r>
          </a:p>
          <a:p>
            <a:pPr marL="342900" lvl="0" algn="just">
              <a:lnSpc>
                <a:spcPct val="150000"/>
              </a:lnSpc>
              <a:spcBef>
                <a:spcPts val="0"/>
              </a:spcBef>
              <a:buSzPts val="2800"/>
              <a:buFont typeface="Arial" panose="020B0604020202020204" pitchFamily="34" charset="0"/>
              <a:buChar char="•"/>
            </a:pPr>
            <a:r>
              <a:rPr lang="en-US" sz="2000" b="1" dirty="0">
                <a:latin typeface="+mn-lt"/>
                <a:cs typeface="Arial"/>
                <a:sym typeface="Arial"/>
              </a:rPr>
              <a:t>ANN</a:t>
            </a:r>
            <a:r>
              <a:rPr lang="en-US" sz="2000" dirty="0">
                <a:latin typeface="+mn-lt"/>
                <a:cs typeface="Arial"/>
                <a:sym typeface="Arial"/>
              </a:rPr>
              <a:t>: slightly higher </a:t>
            </a:r>
            <a:r>
              <a:rPr lang="en-US" sz="2000" b="1" dirty="0">
                <a:latin typeface="+mn-lt"/>
                <a:cs typeface="Arial"/>
                <a:sym typeface="Arial"/>
              </a:rPr>
              <a:t>precision</a:t>
            </a:r>
            <a:r>
              <a:rPr lang="en-US" sz="2000" dirty="0">
                <a:latin typeface="+mn-lt"/>
                <a:cs typeface="Arial"/>
                <a:sym typeface="Arial"/>
              </a:rPr>
              <a:t> but misses more sick patients</a:t>
            </a:r>
          </a:p>
          <a:p>
            <a:pPr marL="342900" lvl="0" algn="just">
              <a:lnSpc>
                <a:spcPct val="150000"/>
              </a:lnSpc>
              <a:spcBef>
                <a:spcPts val="0"/>
              </a:spcBef>
              <a:buSzPts val="2800"/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  <a:cs typeface="Arial"/>
                <a:sym typeface="Arial"/>
              </a:rPr>
              <a:t>Reason: dataset small (302 samples); </a:t>
            </a:r>
            <a:r>
              <a:rPr lang="en-US" sz="2000" b="1" dirty="0">
                <a:latin typeface="+mn-lt"/>
                <a:cs typeface="Arial"/>
                <a:sym typeface="Arial"/>
              </a:rPr>
              <a:t>ANNs</a:t>
            </a:r>
            <a:r>
              <a:rPr lang="en-US" sz="2000" dirty="0">
                <a:latin typeface="+mn-lt"/>
                <a:cs typeface="Arial"/>
                <a:sym typeface="Arial"/>
              </a:rPr>
              <a:t> need more data</a:t>
            </a:r>
          </a:p>
          <a:p>
            <a:pPr marL="342900" lvl="0" algn="just">
              <a:lnSpc>
                <a:spcPct val="150000"/>
              </a:lnSpc>
              <a:spcBef>
                <a:spcPts val="0"/>
              </a:spcBef>
              <a:buSzPts val="2800"/>
              <a:buFont typeface="Arial" panose="020B0604020202020204" pitchFamily="34" charset="0"/>
              <a:buChar char="•"/>
            </a:pPr>
            <a:r>
              <a:rPr lang="en-US" sz="2000" b="1" dirty="0">
                <a:latin typeface="+mn-lt"/>
                <a:cs typeface="Arial"/>
                <a:sym typeface="Arial"/>
              </a:rPr>
              <a:t>LR</a:t>
            </a:r>
            <a:r>
              <a:rPr lang="en-US" sz="2000" dirty="0">
                <a:latin typeface="+mn-lt"/>
                <a:cs typeface="Arial"/>
                <a:sym typeface="Arial"/>
              </a:rPr>
              <a:t> advantage: interpretable coefficients → shows important features</a:t>
            </a:r>
          </a:p>
          <a:p>
            <a:pPr marL="342900" lvl="0" algn="just">
              <a:lnSpc>
                <a:spcPct val="150000"/>
              </a:lnSpc>
              <a:spcBef>
                <a:spcPts val="0"/>
              </a:spcBef>
              <a:buSzPts val="2800"/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  <a:cs typeface="Arial"/>
                <a:sym typeface="Arial"/>
              </a:rPr>
              <a:t>Top features: chest pain type, max heart rate, major vessels</a:t>
            </a:r>
          </a:p>
        </p:txBody>
      </p:sp>
      <p:sp>
        <p:nvSpPr>
          <p:cNvPr id="119" name="Google Shape;119;p4">
            <a:extLst>
              <a:ext uri="{FF2B5EF4-FFF2-40B4-BE49-F238E27FC236}">
                <a16:creationId xmlns:a16="http://schemas.microsoft.com/office/drawing/2014/main" id="{C0463786-20D3-41C0-FFED-E81581C9F99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2286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buSzPts val="4000"/>
            </a:pPr>
            <a:r>
              <a:rPr lang="en-US" sz="4000" b="1" dirty="0">
                <a:latin typeface="+mj-lt"/>
                <a:ea typeface="Arial"/>
                <a:cs typeface="Arial"/>
                <a:sym typeface="Arial"/>
              </a:rPr>
              <a:t>Results &amp; Interpretation</a:t>
            </a:r>
            <a:endParaRPr dirty="0">
              <a:latin typeface="+mj-lt"/>
            </a:endParaRPr>
          </a:p>
        </p:txBody>
      </p:sp>
      <p:sp>
        <p:nvSpPr>
          <p:cNvPr id="121" name="Google Shape;121;p4">
            <a:extLst>
              <a:ext uri="{FF2B5EF4-FFF2-40B4-BE49-F238E27FC236}">
                <a16:creationId xmlns:a16="http://schemas.microsoft.com/office/drawing/2014/main" id="{4B95486D-FD4E-20F7-C598-A75459E88B2A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D785D048-971E-423F-B8B7-FDBAC031D7CE}" type="datetime1">
              <a:rPr lang="en-US" smtClean="0">
                <a:latin typeface="+mj-lt"/>
              </a:rPr>
              <a:t>3/14/2026</a:t>
            </a:fld>
            <a:endParaRPr dirty="0">
              <a:latin typeface="+mj-lt"/>
            </a:endParaRPr>
          </a:p>
        </p:txBody>
      </p:sp>
      <p:sp>
        <p:nvSpPr>
          <p:cNvPr id="122" name="Google Shape;122;p4">
            <a:extLst>
              <a:ext uri="{FF2B5EF4-FFF2-40B4-BE49-F238E27FC236}">
                <a16:creationId xmlns:a16="http://schemas.microsoft.com/office/drawing/2014/main" id="{B5B5D29A-239B-2746-CA90-C62E0868C40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latin typeface="+mj-lt"/>
              </a:rPr>
              <a:t>17</a:t>
            </a:fld>
            <a:endParaRPr dirty="0">
              <a:latin typeface="+mj-lt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DB725B4-2B83-04D9-44C4-414EA81477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2679717"/>
              </p:ext>
            </p:extLst>
          </p:nvPr>
        </p:nvGraphicFramePr>
        <p:xfrm>
          <a:off x="1796955" y="1600200"/>
          <a:ext cx="8598090" cy="1232622"/>
        </p:xfrm>
        <a:graphic>
          <a:graphicData uri="http://schemas.openxmlformats.org/drawingml/2006/table">
            <a:tbl>
              <a:tblPr/>
              <a:tblGrid>
                <a:gridCol w="1433015">
                  <a:extLst>
                    <a:ext uri="{9D8B030D-6E8A-4147-A177-3AD203B41FA5}">
                      <a16:colId xmlns:a16="http://schemas.microsoft.com/office/drawing/2014/main" val="1008824219"/>
                    </a:ext>
                  </a:extLst>
                </a:gridCol>
                <a:gridCol w="1433015">
                  <a:extLst>
                    <a:ext uri="{9D8B030D-6E8A-4147-A177-3AD203B41FA5}">
                      <a16:colId xmlns:a16="http://schemas.microsoft.com/office/drawing/2014/main" val="2518332705"/>
                    </a:ext>
                  </a:extLst>
                </a:gridCol>
                <a:gridCol w="1433015">
                  <a:extLst>
                    <a:ext uri="{9D8B030D-6E8A-4147-A177-3AD203B41FA5}">
                      <a16:colId xmlns:a16="http://schemas.microsoft.com/office/drawing/2014/main" val="1178445833"/>
                    </a:ext>
                  </a:extLst>
                </a:gridCol>
                <a:gridCol w="1433015">
                  <a:extLst>
                    <a:ext uri="{9D8B030D-6E8A-4147-A177-3AD203B41FA5}">
                      <a16:colId xmlns:a16="http://schemas.microsoft.com/office/drawing/2014/main" val="489569663"/>
                    </a:ext>
                  </a:extLst>
                </a:gridCol>
                <a:gridCol w="1433015">
                  <a:extLst>
                    <a:ext uri="{9D8B030D-6E8A-4147-A177-3AD203B41FA5}">
                      <a16:colId xmlns:a16="http://schemas.microsoft.com/office/drawing/2014/main" val="2654784537"/>
                    </a:ext>
                  </a:extLst>
                </a:gridCol>
                <a:gridCol w="1433015">
                  <a:extLst>
                    <a:ext uri="{9D8B030D-6E8A-4147-A177-3AD203B41FA5}">
                      <a16:colId xmlns:a16="http://schemas.microsoft.com/office/drawing/2014/main" val="2467655326"/>
                    </a:ext>
                  </a:extLst>
                </a:gridCol>
              </a:tblGrid>
              <a:tr h="4108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/>
                        <a:t>Model</a:t>
                      </a: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/>
                        <a:t>Accuracy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/>
                        <a:t>Precision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/>
                        <a:t>Recall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/>
                        <a:t>F1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/>
                        <a:t>AUC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4326066"/>
                  </a:ext>
                </a:extLst>
              </a:tr>
              <a:tr h="4108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/>
                        <a:t>LR</a:t>
                      </a: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/>
                        <a:t>0.803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/>
                        <a:t>0.800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/>
                        <a:t>0.848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/>
                        <a:t>0.824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/>
                        <a:t>0.892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0404563"/>
                  </a:ext>
                </a:extLst>
              </a:tr>
              <a:tr h="4108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/>
                        <a:t>ANN</a:t>
                      </a: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/>
                        <a:t>0.787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/>
                        <a:t>0.813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/>
                        <a:t>0.788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/>
                        <a:t>0.800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/>
                        <a:t>0.839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3251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10042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1AFBDCE2-1F7D-41D1-3BE6-65C3B394C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">
            <a:extLst>
              <a:ext uri="{FF2B5EF4-FFF2-40B4-BE49-F238E27FC236}">
                <a16:creationId xmlns:a16="http://schemas.microsoft.com/office/drawing/2014/main" id="{A9B56F04-A404-A8F3-FE52-DB2104FD46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1600200"/>
            <a:ext cx="100584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342900" lvl="0" algn="just">
              <a:lnSpc>
                <a:spcPct val="150000"/>
              </a:lnSpc>
              <a:spcBef>
                <a:spcPts val="0"/>
              </a:spcBef>
              <a:buSzPts val="2800"/>
              <a:buFont typeface="Arial" panose="020B0604020202020204" pitchFamily="34" charset="0"/>
              <a:buChar char="•"/>
            </a:pPr>
            <a:r>
              <a:rPr lang="en-US" sz="2400" b="1" dirty="0">
                <a:latin typeface="+mn-lt"/>
                <a:cs typeface="Arial"/>
                <a:sym typeface="Arial"/>
              </a:rPr>
              <a:t>Conclusion</a:t>
            </a:r>
            <a:endParaRPr lang="en-US" sz="2000" b="1" dirty="0">
              <a:latin typeface="+mn-lt"/>
              <a:cs typeface="Arial"/>
              <a:sym typeface="Arial"/>
            </a:endParaRPr>
          </a:p>
          <a:p>
            <a:pPr marL="736600" lvl="0" algn="just">
              <a:lnSpc>
                <a:spcPct val="150000"/>
              </a:lnSpc>
              <a:spcBef>
                <a:spcPts val="0"/>
              </a:spcBef>
              <a:buSzPts val="2800"/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  <a:cs typeface="Arial"/>
                <a:sym typeface="Arial"/>
              </a:rPr>
              <a:t>Both models achieved ~80% accuracy</a:t>
            </a:r>
          </a:p>
          <a:p>
            <a:pPr marL="736600" lvl="0" algn="just">
              <a:lnSpc>
                <a:spcPct val="150000"/>
              </a:lnSpc>
              <a:spcBef>
                <a:spcPts val="0"/>
              </a:spcBef>
              <a:buSzPts val="2800"/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  <a:cs typeface="Arial"/>
                <a:sym typeface="Arial"/>
              </a:rPr>
              <a:t>LR slightly beat ANN ; more complex ≠ always better</a:t>
            </a:r>
          </a:p>
          <a:p>
            <a:pPr marL="736600" lvl="0" algn="just">
              <a:lnSpc>
                <a:spcPct val="150000"/>
              </a:lnSpc>
              <a:spcBef>
                <a:spcPts val="0"/>
              </a:spcBef>
              <a:buSzPts val="2800"/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  <a:cs typeface="Arial"/>
                <a:sym typeface="Arial"/>
              </a:rPr>
              <a:t>LR provides interpretability - coefficients reveal which features drive predictions</a:t>
            </a:r>
          </a:p>
          <a:p>
            <a:pPr marL="342900" lvl="0" algn="just">
              <a:lnSpc>
                <a:spcPct val="150000"/>
              </a:lnSpc>
              <a:spcBef>
                <a:spcPts val="0"/>
              </a:spcBef>
              <a:buSzPts val="2800"/>
              <a:buFont typeface="Arial" panose="020B0604020202020204" pitchFamily="34" charset="0"/>
              <a:buChar char="•"/>
            </a:pPr>
            <a:endParaRPr lang="en-US" sz="2000" dirty="0">
              <a:latin typeface="+mn-lt"/>
              <a:cs typeface="Arial"/>
              <a:sym typeface="Arial"/>
            </a:endParaRPr>
          </a:p>
          <a:p>
            <a:pPr marL="342900" lvl="0" algn="just">
              <a:lnSpc>
                <a:spcPct val="150000"/>
              </a:lnSpc>
              <a:spcBef>
                <a:spcPts val="0"/>
              </a:spcBef>
              <a:buSzPts val="2800"/>
              <a:buFont typeface="Arial" panose="020B0604020202020204" pitchFamily="34" charset="0"/>
              <a:buChar char="•"/>
            </a:pPr>
            <a:r>
              <a:rPr lang="en-US" sz="2400" b="1" dirty="0">
                <a:latin typeface="+mn-lt"/>
                <a:cs typeface="Arial"/>
                <a:sym typeface="Arial"/>
              </a:rPr>
              <a:t>Ethics:</a:t>
            </a:r>
          </a:p>
          <a:p>
            <a:pPr marL="736600" lvl="0" algn="just">
              <a:lnSpc>
                <a:spcPct val="150000"/>
              </a:lnSpc>
              <a:spcBef>
                <a:spcPts val="0"/>
              </a:spcBef>
              <a:buSzPts val="2800"/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  <a:cs typeface="Arial"/>
                <a:sym typeface="Arial"/>
              </a:rPr>
              <a:t>Patient privacy important; dataset from one hospital &gt;&gt; may not generalize</a:t>
            </a:r>
          </a:p>
          <a:p>
            <a:pPr marL="736600" lvl="0" algn="just">
              <a:lnSpc>
                <a:spcPct val="150000"/>
              </a:lnSpc>
              <a:spcBef>
                <a:spcPts val="0"/>
              </a:spcBef>
              <a:buSzPts val="2800"/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  <a:cs typeface="Arial"/>
                <a:sym typeface="Arial"/>
              </a:rPr>
              <a:t>Must never replace a doctor - assistive screening tool only</a:t>
            </a:r>
          </a:p>
          <a:p>
            <a:pPr marL="736600" lvl="0" algn="just">
              <a:lnSpc>
                <a:spcPct val="150000"/>
              </a:lnSpc>
              <a:spcBef>
                <a:spcPts val="0"/>
              </a:spcBef>
              <a:buSzPts val="2800"/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  <a:cs typeface="Arial"/>
                <a:sym typeface="Arial"/>
              </a:rPr>
              <a:t>Future: larger datasets could favor ANN; ensemble methods (Random Forest) worth exploring</a:t>
            </a:r>
          </a:p>
        </p:txBody>
      </p:sp>
      <p:sp>
        <p:nvSpPr>
          <p:cNvPr id="119" name="Google Shape;119;p4">
            <a:extLst>
              <a:ext uri="{FF2B5EF4-FFF2-40B4-BE49-F238E27FC236}">
                <a16:creationId xmlns:a16="http://schemas.microsoft.com/office/drawing/2014/main" id="{EB7F2468-9908-51E7-BEEF-B33F6ABA96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2286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buSzPts val="4000"/>
            </a:pPr>
            <a:r>
              <a:rPr lang="en-US" sz="4000" b="1" dirty="0">
                <a:latin typeface="+mj-lt"/>
                <a:ea typeface="Arial"/>
                <a:cs typeface="Arial"/>
                <a:sym typeface="Arial"/>
              </a:rPr>
              <a:t>Conclusion &amp; Ethics</a:t>
            </a:r>
            <a:endParaRPr dirty="0">
              <a:latin typeface="+mj-lt"/>
            </a:endParaRPr>
          </a:p>
        </p:txBody>
      </p:sp>
      <p:sp>
        <p:nvSpPr>
          <p:cNvPr id="121" name="Google Shape;121;p4">
            <a:extLst>
              <a:ext uri="{FF2B5EF4-FFF2-40B4-BE49-F238E27FC236}">
                <a16:creationId xmlns:a16="http://schemas.microsoft.com/office/drawing/2014/main" id="{78C7B5A5-58BE-5E1E-3629-F5F8B8F4A809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D785D048-971E-423F-B8B7-FDBAC031D7CE}" type="datetime1">
              <a:rPr lang="en-US" smtClean="0">
                <a:latin typeface="+mj-lt"/>
              </a:rPr>
              <a:t>3/14/2026</a:t>
            </a:fld>
            <a:endParaRPr dirty="0">
              <a:latin typeface="+mj-lt"/>
            </a:endParaRPr>
          </a:p>
        </p:txBody>
      </p:sp>
      <p:sp>
        <p:nvSpPr>
          <p:cNvPr id="122" name="Google Shape;122;p4">
            <a:extLst>
              <a:ext uri="{FF2B5EF4-FFF2-40B4-BE49-F238E27FC236}">
                <a16:creationId xmlns:a16="http://schemas.microsoft.com/office/drawing/2014/main" id="{38239AA0-5811-5A27-EF84-B5AB8B5CD89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latin typeface="+mj-lt"/>
              </a:rPr>
              <a:t>18</a:t>
            </a:fld>
            <a:endParaRPr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876864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5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 sz="4000" b="1" dirty="0">
                <a:latin typeface="+mj-lt"/>
                <a:ea typeface="Arial"/>
                <a:cs typeface="Arial"/>
                <a:sym typeface="Arial"/>
              </a:rPr>
              <a:t>References</a:t>
            </a:r>
            <a:endParaRPr dirty="0">
              <a:latin typeface="+mj-lt"/>
            </a:endParaRPr>
          </a:p>
        </p:txBody>
      </p:sp>
      <p:sp>
        <p:nvSpPr>
          <p:cNvPr id="517" name="Google Shape;517;p50"/>
          <p:cNvSpPr txBox="1">
            <a:spLocks noGrp="1"/>
          </p:cNvSpPr>
          <p:nvPr>
            <p:ph type="body" idx="1"/>
          </p:nvPr>
        </p:nvSpPr>
        <p:spPr>
          <a:xfrm>
            <a:off x="838200" y="1452282"/>
            <a:ext cx="10515600" cy="4746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lvl="0" indent="-457200">
              <a:lnSpc>
                <a:spcPct val="150000"/>
              </a:lnSpc>
              <a:spcBef>
                <a:spcPts val="0"/>
              </a:spcBef>
              <a:buSzPct val="100000"/>
              <a:buAutoNum type="arabicPeriod"/>
            </a:pPr>
            <a:r>
              <a:rPr lang="en-US" sz="2000" dirty="0">
                <a:solidFill>
                  <a:schemeClr val="tx1"/>
                </a:solidFill>
                <a:latin typeface="+mj-lt"/>
                <a:ea typeface="Arial"/>
                <a:cs typeface="Arial"/>
                <a:sym typeface="Arial"/>
              </a:rPr>
              <a:t>Mohan et al. (2019) - IEEE Access</a:t>
            </a:r>
          </a:p>
          <a:p>
            <a:pPr lvl="0" indent="-457200">
              <a:lnSpc>
                <a:spcPct val="150000"/>
              </a:lnSpc>
              <a:spcBef>
                <a:spcPts val="0"/>
              </a:spcBef>
              <a:buSzPct val="100000"/>
              <a:buAutoNum type="arabicPeriod"/>
            </a:pPr>
            <a:r>
              <a:rPr lang="en-US" sz="2000" dirty="0">
                <a:solidFill>
                  <a:schemeClr val="tx1"/>
                </a:solidFill>
                <a:latin typeface="+mj-lt"/>
                <a:ea typeface="Arial"/>
                <a:cs typeface="Arial"/>
                <a:sym typeface="Arial"/>
              </a:rPr>
              <a:t>Ali et al. (2021) - Computers in Biology and Medicine</a:t>
            </a:r>
          </a:p>
          <a:p>
            <a:pPr lvl="0" indent="-457200">
              <a:lnSpc>
                <a:spcPct val="150000"/>
              </a:lnSpc>
              <a:spcBef>
                <a:spcPts val="0"/>
              </a:spcBef>
              <a:buSzPct val="100000"/>
              <a:buAutoNum type="arabicPeriod"/>
            </a:pPr>
            <a:r>
              <a:rPr lang="en-US" sz="2000" dirty="0">
                <a:solidFill>
                  <a:schemeClr val="tx1"/>
                </a:solidFill>
                <a:latin typeface="+mj-lt"/>
                <a:ea typeface="Arial"/>
                <a:cs typeface="Arial"/>
                <a:sym typeface="Arial"/>
              </a:rPr>
              <a:t>UCI ML Repository - Heart Disease Dataset</a:t>
            </a:r>
          </a:p>
          <a:p>
            <a:pPr lvl="0" indent="-457200">
              <a:lnSpc>
                <a:spcPct val="150000"/>
              </a:lnSpc>
              <a:spcBef>
                <a:spcPts val="0"/>
              </a:spcBef>
              <a:buSzPct val="100000"/>
              <a:buAutoNum type="arabicPeriod"/>
            </a:pPr>
            <a:r>
              <a:rPr lang="en-US" sz="2000" dirty="0">
                <a:solidFill>
                  <a:schemeClr val="tx1"/>
                </a:solidFill>
                <a:latin typeface="+mj-lt"/>
                <a:ea typeface="Arial"/>
                <a:cs typeface="Arial"/>
                <a:sym typeface="Arial"/>
              </a:rPr>
              <a:t>Kaggle - Heart Disease UCI Dataset</a:t>
            </a:r>
          </a:p>
          <a:p>
            <a:pPr lvl="0" indent="-457200">
              <a:lnSpc>
                <a:spcPct val="150000"/>
              </a:lnSpc>
              <a:spcBef>
                <a:spcPts val="0"/>
              </a:spcBef>
              <a:buSzPct val="100000"/>
              <a:buAutoNum type="arabicPeriod"/>
            </a:pPr>
            <a:r>
              <a:rPr lang="en-US" sz="2000" dirty="0">
                <a:solidFill>
                  <a:schemeClr val="tx1"/>
                </a:solidFill>
                <a:latin typeface="+mj-lt"/>
                <a:ea typeface="Arial"/>
                <a:cs typeface="Arial"/>
                <a:sym typeface="Arial"/>
              </a:rPr>
              <a:t>Krish Naik - Heart Disease Classification (YouTube)</a:t>
            </a:r>
          </a:p>
          <a:p>
            <a:pPr lvl="0" indent="-457200">
              <a:lnSpc>
                <a:spcPct val="150000"/>
              </a:lnSpc>
              <a:spcBef>
                <a:spcPts val="0"/>
              </a:spcBef>
              <a:buSzPct val="100000"/>
              <a:buAutoNum type="arabicPeriod"/>
            </a:pPr>
            <a:r>
              <a:rPr lang="en-US" sz="2000" dirty="0" err="1">
                <a:solidFill>
                  <a:schemeClr val="tx1"/>
                </a:solidFill>
                <a:latin typeface="+mj-lt"/>
                <a:ea typeface="Arial"/>
                <a:cs typeface="Arial"/>
                <a:sym typeface="Arial"/>
              </a:rPr>
              <a:t>StatQuest</a:t>
            </a:r>
            <a:r>
              <a:rPr lang="en-US" sz="2000" dirty="0">
                <a:solidFill>
                  <a:schemeClr val="tx1"/>
                </a:solidFill>
                <a:latin typeface="+mj-lt"/>
                <a:ea typeface="Arial"/>
                <a:cs typeface="Arial"/>
                <a:sym typeface="Arial"/>
              </a:rPr>
              <a:t> - Logistic Regression (YouTube)</a:t>
            </a:r>
          </a:p>
          <a:p>
            <a:pPr lvl="0" indent="-457200">
              <a:lnSpc>
                <a:spcPct val="150000"/>
              </a:lnSpc>
              <a:spcBef>
                <a:spcPts val="0"/>
              </a:spcBef>
              <a:buSzPct val="100000"/>
              <a:buAutoNum type="arabicPeriod"/>
            </a:pPr>
            <a:r>
              <a:rPr lang="en-US" sz="2000" dirty="0">
                <a:solidFill>
                  <a:schemeClr val="tx1"/>
                </a:solidFill>
                <a:latin typeface="+mj-lt"/>
                <a:ea typeface="Arial"/>
                <a:cs typeface="Arial"/>
                <a:sym typeface="Arial"/>
              </a:rPr>
              <a:t>3Blue1Brown - Neural Networks (YouTube)</a:t>
            </a:r>
          </a:p>
          <a:p>
            <a:pPr lvl="0" indent="-457200">
              <a:lnSpc>
                <a:spcPct val="150000"/>
              </a:lnSpc>
              <a:spcBef>
                <a:spcPts val="0"/>
              </a:spcBef>
              <a:buSzPct val="100000"/>
              <a:buAutoNum type="arabicPeriod"/>
            </a:pPr>
            <a:r>
              <a:rPr lang="en-US" sz="2000" dirty="0">
                <a:solidFill>
                  <a:schemeClr val="tx1"/>
                </a:solidFill>
                <a:latin typeface="+mj-lt"/>
                <a:ea typeface="Arial"/>
                <a:cs typeface="Arial"/>
                <a:sym typeface="Arial"/>
              </a:rPr>
              <a:t>GitHub - </a:t>
            </a:r>
            <a:r>
              <a:rPr lang="en-US" sz="2000" dirty="0" err="1">
                <a:solidFill>
                  <a:schemeClr val="tx1"/>
                </a:solidFill>
                <a:latin typeface="+mj-lt"/>
                <a:ea typeface="Arial"/>
                <a:cs typeface="Arial"/>
                <a:sym typeface="Arial"/>
              </a:rPr>
              <a:t>huda-alq</a:t>
            </a:r>
            <a:r>
              <a:rPr lang="en-US" sz="2000" dirty="0">
                <a:solidFill>
                  <a:schemeClr val="tx1"/>
                </a:solidFill>
                <a:latin typeface="+mj-lt"/>
                <a:ea typeface="Arial"/>
                <a:cs typeface="Arial"/>
                <a:sym typeface="Arial"/>
              </a:rPr>
              <a:t>, </a:t>
            </a:r>
            <a:r>
              <a:rPr lang="en-US" sz="2000" dirty="0" err="1">
                <a:solidFill>
                  <a:schemeClr val="tx1"/>
                </a:solidFill>
                <a:latin typeface="+mj-lt"/>
                <a:ea typeface="Arial"/>
                <a:cs typeface="Arial"/>
                <a:sym typeface="Arial"/>
              </a:rPr>
              <a:t>kristipati</a:t>
            </a:r>
            <a:r>
              <a:rPr lang="en-US" sz="2000" dirty="0">
                <a:solidFill>
                  <a:schemeClr val="tx1"/>
                </a:solidFill>
                <a:latin typeface="+mj-lt"/>
                <a:ea typeface="Arial"/>
                <a:cs typeface="Arial"/>
                <a:sym typeface="Arial"/>
              </a:rPr>
              <a:t>, </a:t>
            </a:r>
            <a:r>
              <a:rPr lang="en-US" sz="2000" dirty="0" err="1">
                <a:solidFill>
                  <a:schemeClr val="tx1"/>
                </a:solidFill>
                <a:latin typeface="+mj-lt"/>
                <a:ea typeface="Arial"/>
                <a:cs typeface="Arial"/>
                <a:sym typeface="Arial"/>
              </a:rPr>
              <a:t>jhanvigoyal</a:t>
            </a:r>
            <a:endParaRPr lang="en-US" sz="2000" dirty="0">
              <a:solidFill>
                <a:schemeClr val="tx1"/>
              </a:solidFill>
              <a:latin typeface="+mj-lt"/>
              <a:ea typeface="Arial"/>
              <a:cs typeface="Arial"/>
              <a:sym typeface="Arial"/>
            </a:endParaRPr>
          </a:p>
          <a:p>
            <a:pPr lvl="0" indent="-457200">
              <a:lnSpc>
                <a:spcPct val="150000"/>
              </a:lnSpc>
              <a:spcBef>
                <a:spcPts val="0"/>
              </a:spcBef>
              <a:buSzPct val="100000"/>
              <a:buAutoNum type="arabicPeriod"/>
            </a:pPr>
            <a:r>
              <a:rPr lang="en-US" sz="2000" dirty="0">
                <a:solidFill>
                  <a:schemeClr val="tx1"/>
                </a:solidFill>
                <a:latin typeface="+mj-lt"/>
                <a:ea typeface="Arial"/>
                <a:cs typeface="Arial"/>
                <a:sym typeface="Arial"/>
              </a:rPr>
              <a:t>scikit-learn, </a:t>
            </a:r>
            <a:r>
              <a:rPr lang="en-US" sz="2000" dirty="0" err="1">
                <a:solidFill>
                  <a:schemeClr val="tx1"/>
                </a:solidFill>
                <a:latin typeface="+mj-lt"/>
                <a:ea typeface="Arial"/>
                <a:cs typeface="Arial"/>
                <a:sym typeface="Arial"/>
              </a:rPr>
              <a:t>Keras</a:t>
            </a:r>
            <a:r>
              <a:rPr lang="en-US" sz="2000" dirty="0">
                <a:solidFill>
                  <a:schemeClr val="tx1"/>
                </a:solidFill>
                <a:latin typeface="+mj-lt"/>
                <a:ea typeface="Arial"/>
                <a:cs typeface="Arial"/>
                <a:sym typeface="Arial"/>
              </a:rPr>
              <a:t>, pandas, NumPy Docs</a:t>
            </a:r>
          </a:p>
          <a:p>
            <a:pPr marL="0" lvl="0" indent="0">
              <a:lnSpc>
                <a:spcPct val="150000"/>
              </a:lnSpc>
              <a:spcBef>
                <a:spcPts val="0"/>
              </a:spcBef>
              <a:buSzPct val="100000"/>
              <a:buNone/>
            </a:pPr>
            <a:endParaRPr lang="en-US" sz="2000" dirty="0">
              <a:solidFill>
                <a:schemeClr val="tx1"/>
              </a:solidFill>
              <a:latin typeface="+mj-lt"/>
              <a:ea typeface="Arial"/>
              <a:cs typeface="Arial"/>
              <a:sym typeface="Arial"/>
            </a:endParaRPr>
          </a:p>
          <a:p>
            <a:pPr marL="0" lvl="0" indent="0">
              <a:lnSpc>
                <a:spcPct val="150000"/>
              </a:lnSpc>
              <a:spcBef>
                <a:spcPts val="0"/>
              </a:spcBef>
              <a:buSzPct val="100000"/>
              <a:buNone/>
            </a:pPr>
            <a:r>
              <a:rPr lang="en-US" sz="2000" i="1" dirty="0">
                <a:solidFill>
                  <a:schemeClr val="tx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Tools: Python, pandas, NumPy, Matplotlib, Seaborn, scikit-learn, TensorFlow/</a:t>
            </a:r>
            <a:r>
              <a:rPr lang="en-US" sz="2000" i="1" dirty="0" err="1">
                <a:solidFill>
                  <a:schemeClr val="tx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Keras</a:t>
            </a:r>
            <a:endParaRPr lang="en-US" sz="20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8" name="Google Shape;518;p5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F430EB61-BABC-45ED-88D7-FA2CFFF4FAC1}" type="datetime1">
              <a:rPr lang="en-US" smtClean="0">
                <a:latin typeface="+mj-lt"/>
              </a:rPr>
              <a:t>3/14/2026</a:t>
            </a:fld>
            <a:endParaRPr dirty="0">
              <a:latin typeface="+mj-lt"/>
            </a:endParaRPr>
          </a:p>
        </p:txBody>
      </p:sp>
      <p:sp>
        <p:nvSpPr>
          <p:cNvPr id="519" name="Google Shape;519;p5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latin typeface="+mj-lt"/>
              </a:rPr>
              <a:t>19</a:t>
            </a:fld>
            <a:endParaRPr dirty="0">
              <a:latin typeface="+mj-l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5">
          <a:extLst>
            <a:ext uri="{FF2B5EF4-FFF2-40B4-BE49-F238E27FC236}">
              <a16:creationId xmlns:a16="http://schemas.microsoft.com/office/drawing/2014/main" id="{D8533166-BDBE-F2BA-B865-846E372A3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50">
            <a:extLst>
              <a:ext uri="{FF2B5EF4-FFF2-40B4-BE49-F238E27FC236}">
                <a16:creationId xmlns:a16="http://schemas.microsoft.com/office/drawing/2014/main" id="{DEBAE60C-6475-B890-BDFF-1533D7D15B7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1030" y="276621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 sz="6000" b="1" dirty="0">
                <a:latin typeface="Arial"/>
                <a:ea typeface="Arial"/>
                <a:cs typeface="Arial"/>
                <a:sym typeface="Arial"/>
              </a:rPr>
              <a:t>Thank You</a:t>
            </a:r>
            <a:endParaRPr sz="6600" dirty="0"/>
          </a:p>
        </p:txBody>
      </p:sp>
      <p:sp>
        <p:nvSpPr>
          <p:cNvPr id="518" name="Google Shape;518;p50">
            <a:extLst>
              <a:ext uri="{FF2B5EF4-FFF2-40B4-BE49-F238E27FC236}">
                <a16:creationId xmlns:a16="http://schemas.microsoft.com/office/drawing/2014/main" id="{5678796A-A410-AA2F-9D66-62AC66548961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EC71808B-4AEF-4D53-B4D2-471DEECC4175}" type="datetime1">
              <a:rPr lang="en-US" smtClean="0"/>
              <a:t>3/14/2026</a:t>
            </a:fld>
            <a:endParaRPr dirty="0"/>
          </a:p>
        </p:txBody>
      </p:sp>
      <p:sp>
        <p:nvSpPr>
          <p:cNvPr id="519" name="Google Shape;519;p50">
            <a:extLst>
              <a:ext uri="{FF2B5EF4-FFF2-40B4-BE49-F238E27FC236}">
                <a16:creationId xmlns:a16="http://schemas.microsoft.com/office/drawing/2014/main" id="{9454A21B-4502-93EA-43E0-7AF81FFC0B8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20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50501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470</TotalTime>
  <Words>1830</Words>
  <Application>Microsoft Office PowerPoint</Application>
  <PresentationFormat>Widescreen</PresentationFormat>
  <Paragraphs>345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Aptos Mono</vt:lpstr>
      <vt:lpstr>Arial</vt:lpstr>
      <vt:lpstr>Calibri</vt:lpstr>
      <vt:lpstr>Cambria Math</vt:lpstr>
      <vt:lpstr>Times New Roman</vt:lpstr>
      <vt:lpstr>Office Theme</vt:lpstr>
      <vt:lpstr>Heart Disease Prediction:  Using LR &amp; ANN</vt:lpstr>
      <vt:lpstr>Presentation Outline</vt:lpstr>
      <vt:lpstr>Introduction</vt:lpstr>
      <vt:lpstr>Mathematical Formulation[1]</vt:lpstr>
      <vt:lpstr>Mathematical Formulation[2]</vt:lpstr>
      <vt:lpstr>Dataset Description &amp; Data Cleaning</vt:lpstr>
      <vt:lpstr>Exploratory Data Analysis</vt:lpstr>
      <vt:lpstr>Feature Engineering &amp; Preprocessing</vt:lpstr>
      <vt:lpstr>Model Development [LR] [1]</vt:lpstr>
      <vt:lpstr>Model Development [LR] [2]</vt:lpstr>
      <vt:lpstr>Model Development [ANN] [1]</vt:lpstr>
      <vt:lpstr>Model Development [ANN] [2]</vt:lpstr>
      <vt:lpstr>Model Development [ANN] [2]</vt:lpstr>
      <vt:lpstr>Metrics</vt:lpstr>
      <vt:lpstr>Confusion Matrices</vt:lpstr>
      <vt:lpstr>ROC Curves &amp; AUC</vt:lpstr>
      <vt:lpstr>Results &amp; Interpretation</vt:lpstr>
      <vt:lpstr>Conclusion &amp; Ethics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Kapur Pant</dc:creator>
  <cp:lastModifiedBy>anonyks</cp:lastModifiedBy>
  <cp:revision>63</cp:revision>
  <dcterms:modified xsi:type="dcterms:W3CDTF">2026-03-14T07:55:03Z</dcterms:modified>
</cp:coreProperties>
</file>